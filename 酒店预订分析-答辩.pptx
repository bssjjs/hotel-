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15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0, flexDirection: 'row' }}&gt;&#10;    &lt;Box style={{ width: 760, height: 720, padding: '0 64px', justifyContent: 'center', gap: 26, background: '#FFFFFF' }}&gt;&#10;        &lt;Box style={{ flexDirection: 'row', alignItems: 'center', gap: 10 }}&gt;&#10;            &lt;Box style={{ width: 28, height: 3, background: '#1E4FA8' }} /&gt;&#10;            &lt;/Box&gt;&#10;        &lt;Text style={{ fontSize: 58, fontWeight: 'bold', color: '#0E3F8C', lineHeight: 1.24 }}&gt;&#10;            酒店预订的客源、&lt;br /&gt;节奏与取消&#10;        &lt;/Text&gt;&#10;        &lt;Text style={{ fontSize: 19, color: '#3D7BD9', fontFamily: 'Times New Roman', letterSpacing: 0.6, lineHeight: 1.5 }}&gt;&#10;            Who Books, When They Book,&lt;br /&gt;and Why They Cancel&#10;        &lt;/Text&gt;&#10;        &lt;Box style={{ width: 72, height: 3, background: '#D6DCE5' }} /&gt;&#10;        &lt;Text style={{ fontSize: 17, color: '#4A5568', lineHeight: 1.85 }}&gt;&#10;            基于 119,390 条真实预订记录（2015.07—2017.08）的数据分析&lt;br /&gt;&#10;            口径清洗 → 客源与节奏画像 → 取消归因与干预判断&#10;        &lt;/Text&gt;&#10;    &lt;/Box&gt;&#10;    &lt;Box style={{ width: 520, height: 720, background: '#0E3F8C', padding: '64px 56px', justifyContent: 'space-between' }}&gt;&#10;        &lt;Box style={{ gap: 8 }}&gt;&#10;            &lt;Text style={{ fontSize: 14, color: '#A9C0E4', letterSpacing: 3 }}&gt;项目名称&lt;/Text&gt;&#10;            &lt;Text style={{ fontSize: 30, fontWeight: 'bold', color: '#FFFFFF' }}&gt;酒店预订分析&lt;/Text&gt;&#10;            &lt;Text style={{ fontSize: 15, color: '#A9C0E4', lineHeight: 1.7 }}&gt;课程答辩&lt;/Text&gt;&#10;        &lt;/Box&gt;&#10;        &lt;Box style={{ flexDirection: 'row', alignItems: 'flex-end', gap: 14 }}&gt;&#10;            &lt;Text style={{ fontSize: 132, fontWeight: 'bold', color: '#1E4FA8', lineHeight: 1 }}&gt;12&lt;/Text&gt;&#10;            &lt;Text style={{ fontSize: 14, color: '#8FA9D2', letterSpacing: 2, lineHeight: 1.6 }}&gt;GROUP&lt;br /&gt;TWELVE&lt;/Text&gt;&#10;        &lt;/Box&gt;&#10;        &lt;Box style={{ gap: 10, borderTop: '1px solid #2A5AAE', paddingTop: 22 }}&gt;&#10;            &lt;Text style={{ fontSize: 21, fontWeight: 'bold', color: '#FFFFFF' }}&gt;制作人：一班第十二组&lt;/Text&gt;&#10;            &lt;Text style={{ fontSize: 15, color: '#A9C0E4' }}&gt;2026 年 10 月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7239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09600" y="1400175"/>
            <a:ext cx="2667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743075"/>
            <a:ext cx="6019800" cy="1647825"/>
          </a:xfrm>
          <a:prstGeom prst="rect"/>
        </p:spPr>
        <p:txBody>
          <a:bodyPr wrap="none" lIns="0" tIns="0" rIns="0" bIns="0"/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Microsoft YaHei"/>
                <a:ea typeface="Microsoft YaHei"/>
              </a:rPr>
              <a:t>酒店预订的客源、</a:t>
            </a:r>
            <a:endParaRPr/>
          </a:p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Microsoft YaHei"/>
                <a:ea typeface="Microsoft YaHei"/>
              </a:rPr>
              <a:t>节奏与取消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638550"/>
            <a:ext cx="6019800" cy="657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 spc="45">
                <a:solidFill>
                  <a:srgbClr val="3D7BD9"/>
                </a:solidFill>
                <a:latin typeface="Times New Roman"/>
                <a:ea typeface="Times New Roman"/>
              </a:rPr>
              <a:t>Who Books, When They Book,</a:t>
            </a:r>
            <a:endParaRPr/>
          </a:p>
          <a:p>
            <a:pPr>
              <a:lnSpc>
                <a:spcPct val="150000"/>
              </a:lnSpc>
            </a:pPr>
            <a:r>
              <a:rPr lang="en-US" sz="1425" spc="45">
                <a:solidFill>
                  <a:srgbClr val="3D7BD9"/>
                </a:solidFill>
                <a:latin typeface="Times New Roman"/>
                <a:ea typeface="Times New Roman"/>
              </a:rPr>
              <a:t>and Why They Cancel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543425"/>
            <a:ext cx="685800" cy="285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819650"/>
            <a:ext cx="6019800" cy="7239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基于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119,390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条真实预订记录（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2015.07—2017.08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）的数据分析</a:t>
            </a:r>
            <a:endParaRPr/>
          </a:p>
          <a:p>
            <a:pPr>
              <a:lnSpc>
                <a:spcPct val="18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口径清洗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客源与节奏画像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取消归因与干预判断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772400" y="6096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A9C0E4"/>
                </a:solidFill>
                <a:latin typeface="Microsoft YaHei"/>
                <a:ea typeface="Microsoft YaHei"/>
              </a:rPr>
              <a:t>项目名称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772400" y="847725"/>
            <a:ext cx="3886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酒店预订分析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772400" y="1266825"/>
            <a:ext cx="38862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A9C0E4"/>
                </a:solidFill>
                <a:latin typeface="Microsoft YaHei"/>
                <a:ea typeface="Microsoft YaHei"/>
              </a:rPr>
              <a:t>课程答辩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772400" y="2781300"/>
            <a:ext cx="1552575" cy="1514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E4FA8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9458325" y="3781425"/>
            <a:ext cx="638175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 spc="150">
                <a:solidFill>
                  <a:srgbClr val="8FA9D2"/>
                </a:solidFill>
                <a:latin typeface="Microsoft YaHei"/>
                <a:ea typeface="Microsoft YaHei"/>
              </a:rPr>
              <a:t>GROUP</a:t>
            </a:r>
            <a:endParaRPr/>
          </a:p>
          <a:p>
            <a:pPr>
              <a:lnSpc>
                <a:spcPct val="160000"/>
              </a:lnSpc>
            </a:pPr>
            <a:r>
              <a:rPr lang="en-US" sz="1050" spc="150">
                <a:solidFill>
                  <a:srgbClr val="8FA9D2"/>
                </a:solidFill>
                <a:latin typeface="Microsoft YaHei"/>
                <a:ea typeface="Microsoft YaHei"/>
              </a:rPr>
              <a:t>TWELVE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772400" y="5514975"/>
            <a:ext cx="3886200" cy="742950"/>
          </a:xfrm>
          <a:custGeom>
            <a:pathLst>
              <a:path w="408" h="78">
                <a:moveTo>
                  <a:pt x="0" y="0"/>
                </a:moveTo>
                <a:lnTo>
                  <a:pt x="408" y="0"/>
                </a:lnTo>
                <a:lnTo>
                  <a:pt x="408" y="1"/>
                </a:lnTo>
                <a:lnTo>
                  <a:pt x="0" y="1"/>
                </a:lnTo>
                <a:close/>
              </a:path>
            </a:pathLst>
          </a:custGeom>
          <a:solidFill>
            <a:srgbClr val="2A5AA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772400" y="5734050"/>
            <a:ext cx="3886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制作人：一班第十二组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772400" y="607695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9C0E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A9C0E4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A9C0E4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A9C0E4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style={{ width: 1280, height: 720, background: '#FFFFFF', padding: 0, flexDirection: 'row' }}&gt;&#13;&#10;    &lt;Box style={{ width: 340, height: 720, background: '#0E3F8C', padding: '72px 40px 56px 40px', justifyContent: 'space-between' }}&gt;&#13;&#10;        &lt;Box style={{ gap: 14 }}&gt;&#13;&#10;            &lt;Text style={{ fontSize: 14, color: '#8FA9D2', letterSpacing: 4 }}&gt;CONTENTS&lt;/Text&gt;&#13;&#10;            &lt;Text style={{ fontSize: 42, fontWeight: 'bold', color: '#FFFFFF' }}&gt;目录&lt;/Text&gt;&#13;&#10;            &lt;Box style={{ width: 44, height: 3, background: '#3D7BD9' }} /&gt;&#13;&#10;        &lt;/Box&gt;&#13;&#10;        &lt;Box style={{ gap: 6 }}&gt;&#13;&#10;            &lt;Text style={{ fontSize: 15, color: '#FFFFFF', fontWeight: 'bold' }}&gt;酒店预订分析&lt;/Text&gt;&#13;&#10;            &lt;Text style={{ fontSize: 13, color: '#8FA9D2', lineHeight: 1.9 }}&gt;&#13;&#10;                一班第十二组&lt;br /&gt;2026 年 10 月&#13;&#10;            &lt;/Text&gt;&#13;&#10;        &lt;/Box&gt;&#13;&#10;    &lt;/Box&gt;&#13;&#10;    &lt;Box style={{ flex: 1, height: 720, padding: '64px 56px 48px 56px', justifyContent: 'center' }}&gt;&#13;&#10;        &lt;Box style={{ borderTop: '1px solid #E5E7EB' }}&gt;&#13;&#10;            &lt;Box style={{ flexDirection: 'row', alignItems: 'center', gap: 26, padding: '27px 4px', borderBottom: '1px solid #E5E7EB' }}&gt;&#13;&#10;                &lt;Text style={{ fontSize: 32, fontWeight: 'bold', color: '#C9D8F0', width: 62 }}&gt;01&lt;/Text&gt;&#13;&#10;                &lt;Box style={{ flex: 1, gap: 5 }}&gt;&#13;&#10;                    &lt;Text style={{ fontSize: 23, fontWeight: 'bold', color: '#1A2230' }}&gt;问题与方法&lt;/Text&gt;&#13;&#10;                    &lt;Text style={{ fontSize: 14, color: '#4A5568' }}&gt;119,390 条原始记录 · 四步清洗 · 一个指标三种口径&lt;/Text&gt;&#13;&#10;                &lt;/Box&gt;&#13;&#10;                &lt;Text style={{ fontSize: 14, color: '#1E4FA8' }}&gt;P03&lt;/Text&gt;&#13;&#10;            &lt;/Box&gt;&#13;&#10;            &lt;Box style={{ flexDirection: 'row', alignItems: 'center', gap: 26, padding: '27px 4px', borderBottom: '1px solid #E5E7EB' }}&gt;&#13;&#10;                &lt;Text style={{ fontSize: 32, fontWeight: 'bold', color: '#C9D8F0', width: 62 }}&gt;02&lt;/Text&gt;&#13;&#10;                &lt;Box style={{ flex: 1, gap: 5 }}&gt;&#13;&#10;                    &lt;Text style={{ fontSize: 23, fontWeight: 'bold', color: '#1A2230' }}&gt;客人从哪来&lt;/Text&gt;&#13;&#10;                    &lt;Text style={{ fontSize: 14, color: '#4A5568' }}&gt;176 个客源国 · 前十占 81% · 葡萄牙一国三成&lt;/Text&gt;&#13;&#10;                &lt;/Box&gt;&#13;&#10;                &lt;Text style={{ fontSize: 14, color: '#1E4FA8' }}&gt;P06&lt;/Text&gt;&#13;&#10;            &lt;/Box&gt;&#13;&#10;            &lt;Box style={{ flexDirection: 'row', alignItems: 'center', gap: 26, padding: '27px 4px', borderBottom: '1px solid #E5E7EB' }}&gt;&#13;&#10;                &lt;Text style={{ fontSize: 32, fontWeight: 'bold', color: '#C9D8F0', width: 62 }}&gt;03&lt;/Text&gt;&#13;&#10;                &lt;Box style={{ flex: 1, gap: 5 }}&gt;&#13;&#10;                    &lt;Text style={{ fontSize: 23, fontWeight: 'bold', color: '#1A2230' }}&gt;什么时候来&lt;/Text&gt;&#13;&#10;                    &lt;Text style={{ fontSize: 14, color: '#4A5568' }}&gt;季节峰谷差 2.4 倍 · 周内差 6 个百分点 · 提前期严格单调&lt;/Text&gt;&#13;&#10;                &lt;/Box&gt;&#13;&#10;                &lt;Text style={{ fontSize: 14, color: '#1E4FA8' }}&gt;P08&lt;/Text&gt;&#13;&#10;            &lt;/Box&gt;&#13;&#10;            &lt;Box style={{ flexDirection: 'row', alignItems: 'center', gap: 26, padding: '27px 4px', borderBottom: '1px solid #E5E7EB' }}&gt;&#13;&#10;                &lt;Text style={{ fontSize: 32, fontWeight: 'bold', color: '#C9D8F0', width: 62 }}&gt;04&lt;/Text&gt;&#13;&#10;                &lt;Box style={{ flex: 1, gap: 5 }}&gt;&#13;&#10;                    &lt;Text style={{ fontSize: 23, fontWeight: 'bold', color: '#1A2230' }}&gt;取消归因与结论&lt;/Text&gt;&#13;&#10;                    &lt;Text style={{ fontSize: 14, color: '#4A5568' }}&gt;十二个因素 · 一次分解 · 三条结论与三个局限&lt;/Text&gt;&#13;&#10;                &lt;/Box&gt;&#13;&#10;                &lt;Text style={{ fontSize: 14, color: '#1E4FA8' }}&gt;P10&lt;/Text&gt;&#13;&#10;            &lt;/Box&gt;&#13;&#10;        &lt;/Box&gt;&#13;&#10;        &lt;Text style={{ fontSize: 13, color: '#8B97A8', letterSpacing: 0.5, marginTop: 30 }}&gt;&#13;&#10;            全篇数据口径统一为「清洗后 85,585 单、取消率 27.85%」，所有数字可由 hotel.db 复现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1000" y="68580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8FA9D2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981075"/>
            <a:ext cx="24765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81000" y="1600200"/>
            <a:ext cx="4191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524827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酒店预订分析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81000" y="5476875"/>
            <a:ext cx="2476500" cy="8477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>
                <a:solidFill>
                  <a:srgbClr val="8FA9D2"/>
                </a:solidFill>
                <a:latin typeface="Microsoft YaHei"/>
                <a:ea typeface="Microsoft YaHei"/>
              </a:rPr>
              <a:t>一班第十二组</a:t>
            </a:r>
            <a:endParaRPr/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8FA9D2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75">
                <a:solidFill>
                  <a:srgbClr val="8FA9D2"/>
                </a:solidFill>
                <a:latin typeface="Microsoft YaHei"/>
                <a:ea typeface="Microsoft YaHei"/>
              </a:rPr>
              <a:t>年</a:t>
            </a:r>
            <a:r>
              <a:rPr lang="en-US" sz="975">
                <a:solidFill>
                  <a:srgbClr val="8FA9D2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8FA9D2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3771900" y="1285875"/>
            <a:ext cx="7886700" cy="4019550"/>
          </a:xfrm>
          <a:custGeom>
            <a:pathLst>
              <a:path w="828" h="422">
                <a:moveTo>
                  <a:pt x="0" y="0"/>
                </a:moveTo>
                <a:lnTo>
                  <a:pt x="828" y="0"/>
                </a:lnTo>
                <a:lnTo>
                  <a:pt x="82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3771900" y="1295400"/>
            <a:ext cx="7886700" cy="1009650"/>
          </a:xfrm>
          <a:custGeom>
            <a:pathLst>
              <a:path w="828" h="106">
                <a:moveTo>
                  <a:pt x="0" y="105"/>
                </a:moveTo>
                <a:lnTo>
                  <a:pt x="828" y="105"/>
                </a:lnTo>
                <a:lnTo>
                  <a:pt x="828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810000" y="1609725"/>
            <a:ext cx="590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C9D8F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648200" y="1552575"/>
            <a:ext cx="64865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问题与方法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648200" y="1866900"/>
            <a:ext cx="648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119,390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条原始记录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四步清洗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一个指标三种口径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382375" y="1714500"/>
            <a:ext cx="238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P03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771900" y="2295525"/>
            <a:ext cx="7886700" cy="1009650"/>
          </a:xfrm>
          <a:custGeom>
            <a:pathLst>
              <a:path w="828" h="106">
                <a:moveTo>
                  <a:pt x="0" y="105"/>
                </a:moveTo>
                <a:lnTo>
                  <a:pt x="828" y="105"/>
                </a:lnTo>
                <a:lnTo>
                  <a:pt x="828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810000" y="2609850"/>
            <a:ext cx="590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C9D8F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648200" y="2552700"/>
            <a:ext cx="64865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客人从哪来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648200" y="2867025"/>
            <a:ext cx="648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176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个客源国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前十占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81%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葡萄牙一国三成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382375" y="2714625"/>
            <a:ext cx="238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P06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771900" y="3295650"/>
            <a:ext cx="7886700" cy="1009650"/>
          </a:xfrm>
          <a:custGeom>
            <a:pathLst>
              <a:path w="828" h="106">
                <a:moveTo>
                  <a:pt x="0" y="105"/>
                </a:moveTo>
                <a:lnTo>
                  <a:pt x="828" y="105"/>
                </a:lnTo>
                <a:lnTo>
                  <a:pt x="828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0" y="3609975"/>
            <a:ext cx="590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C9D8F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648200" y="3552825"/>
            <a:ext cx="64865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什么时候来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648200" y="3867150"/>
            <a:ext cx="648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季节峰谷差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倍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周内差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个百分点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提前期严格单调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382375" y="3714750"/>
            <a:ext cx="238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P08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3771900" y="4295775"/>
            <a:ext cx="7886700" cy="1009650"/>
          </a:xfrm>
          <a:custGeom>
            <a:pathLst>
              <a:path w="828" h="106">
                <a:moveTo>
                  <a:pt x="0" y="105"/>
                </a:moveTo>
                <a:lnTo>
                  <a:pt x="828" y="105"/>
                </a:lnTo>
                <a:lnTo>
                  <a:pt x="828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810000" y="4610100"/>
            <a:ext cx="590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C9D8F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648200" y="4552950"/>
            <a:ext cx="64865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取消归因与结论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648200" y="4867275"/>
            <a:ext cx="648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十二个因素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一次分解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三条结论与三个局限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382375" y="4714875"/>
            <a:ext cx="238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P10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771900" y="5581650"/>
            <a:ext cx="788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全篇数据口径统一为「清洗后</a:t>
            </a: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 xml:space="preserve"> 85,585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单、取消率</a:t>
            </a: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 xml:space="preserve"> 27.85%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」，所有数字可由</a:t>
            </a: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 xml:space="preserve"> hotel.db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5" name="" descr="&lt;Slide style={{ width: 1280, height: 720, background: '#FFFFFF', padding: 0, flexDirection: 'row' }}&gt;&#10;    &lt;Box style={{ width: 600, height: 720, background: '#F0F5FC', justifyContent: 'center', alignItems: 'center', position: 'relative' }}&gt;&#10;        &lt;Text style={{ fontSize: 280, fontWeight: 'bold', color: '#C9D8F0', lineHeight: 1 }}&gt;01&lt;/Text&gt;&#10;        &lt;Box style={{ position: 'absolute', left: 0, bottom: 0, width: 600, height: 5, background: '#1E4FA8' }} /&gt;&#10;    &lt;/Box&gt;&#10;    &lt;Box style={{ flex: 1, height: 720, padding: '0 64px', justifyContent: 'center', gap: 24 }}&gt;&#10;        &lt;Text style={{ fontSize: 14, color: '#3D7BD9', letterSpacing: 4 }}&gt;CHAPTER 01&lt;/Text&gt;&#10;        &lt;Text style={{ fontSize: 46, fontWeight: 'bold', color: '#0E3F8C' }}&gt;问题与方法&lt;/Text&gt;&#10;        &lt;Box style={{ width: 56, height: 4, background: '#1E4FA8' }} /&gt;&#10;        &lt;Box style={{ gap: 18 }}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119,390 条原始预订，2015.07—2017.08，城市与度假两条业务线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四步清洗后保留 85,585 条，剔除 33,805 条（28.3%）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同一指标三种口径相差 9.2 个百分点 —— 先立口径，再算数&lt;/Text&gt;&#10;            &lt;/Box&gt;&#10;        &lt;/Box&gt;&#10;        &lt;Text style={{ fontSize: 13, color: '#8B97A8', letterSpacing: 1, marginTop: 8 }}&gt;酒店预订分析 · 一班第十二组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525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3D7BD9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324600" y="2009775"/>
            <a:ext cx="5257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问题与方法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324600" y="2771775"/>
            <a:ext cx="5334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324600" y="31337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515100" y="3038475"/>
            <a:ext cx="50673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119,390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条原始预订，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2015.07—2017.08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，城市与度假两条业务线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324600" y="40005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515100" y="3905250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四步清洗后保留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85,585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条，剔除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33,805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28.3%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324600" y="4524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515100" y="442912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同一指标三种口径相差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9.2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个百分点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先立口径，再算数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324600" y="5086350"/>
            <a:ext cx="525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一班第十二组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0" y="0"/>
            <a:ext cx="5715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209675" y="18288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C9D8F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0" y="6810375"/>
            <a:ext cx="5715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0" name="" descr="&lt;Slide style={{ width: 1280, height: 720, background: '#FFFFFF', padding: 0 }}&gt;&#13;&#10;    &lt;Box style={{ width: 1280, height: 88, background: '#0E3F8C', flexDirection: 'row', alignItems: 'center', justifyContent: 'space-between', padding: '0 40px' }}&gt;&#13;&#10;        &lt;Text style={{ fontSize: 30, fontWeight: 'bold', color: '#FFFFFF' }}&gt;从 119,390 到 85,585：四步清洗&lt;/Text&gt;&#13;&#10;        &lt;Text style={{ fontSize: 14, color: '#A9C0E4', letterSpacing: 2 }}&gt;01 问题与方法&lt;/Text&gt;&#13;&#10;    &lt;/Box&gt;&#13;&#10;    &lt;Box style={{ width: 1280, height: 568, padding: '30px 40px', flexDirection: 'row', gap: 34 }}&gt;&#13;&#10;        &lt;Box style={{ width: 660, gap: 10 }}&gt;&#13;&#10;            &lt;Image src='assets/c_clean_funnel.png' style={{ width: 660, height: 255 }} /&gt;&#13;&#10;            &lt;Text style={{ fontSize: 13, color: '#8B97A8' }}&gt;图 1-1　四步清洗剩余行数：每一步的剔除量与剩余记录数&lt;/Text&gt;&#13;&#10;            &lt;Box style={{ gap: 12, paddingTop: 12 }}&gt;&#13;&#10;                &lt;Text style={{ fontSize: 17, color: '#1A2230', lineHeight: 1.8 }}&gt;&#13;&#10;                    剔除的 33,805 条里，31,813 条是业务字段完全一致的重复单，占全部剔除量的 94%。这批重复单的取消率 63%，而总体只有 27.85% —— 同一批被多记几遍的单子，恰恰是最容易取消的那一批。&#13;&#10;                &lt;/Text&gt;&#13;&#10;                &lt;Text style={{ fontSize: 17, color: '#4A5568', lineHeight: 1.8 }}&gt;&#13;&#10;                    所以清洗的第一件事不是修脏数据，而是先解决「同一条预订被记两遍」。剩下三步合计只剔除 1,992 条，量小但必须做 —— 它们会让取消率的分母失真。&#13;&#10;                &lt;/Text&gt;&#13;&#10;            &lt;/Box&gt;&#13;&#10;        &lt;/Box&gt;&#13;&#10;        &lt;Box style={{ flex: 1, gap: 12 }}&gt;&#13;&#10;            &lt;Text style={{ fontSize: 21, fontWeight: 'bold', color: '#0E3F8C' }}&gt;四步按此顺序执行，不可交换&lt;/Text&gt;&#13;&#10;            &lt;Box style={{ borderTop: '1px solid #D6DCE5' }}&gt;&#13;&#10;                &lt;Box style={{ flexDirection: 'row', justifyContent: 'space-between', alignItems: 'center', padding: '15px 2px', borderBottom: '1px solid #E5E7EB' }}&gt;&#13;&#10;                    &lt;Text style={{ fontSize: 17, color: '#1A2230' }}&gt;① 无人入住（人数 = 0）&lt;/Text&gt;&#13;&#10;                    &lt;Text style={{ fontSize: 19, fontWeight: 'bold', color: '#1E4FA8' }}&gt;−180&lt;/Text&gt;&#13;&#10;                &lt;/Box&gt;&#13;&#10;                &lt;Box style={{ flexDirection: 'row', justifyContent: 'space-between', alignItems: 'center', padding: '15px 2px', borderBottom: '1px solid #E5E7EB' }}&gt;&#13;&#10;                    &lt;Text style={{ fontSize: 17, color: '#1A2230' }}&gt;② 零晚数（晚数 = 0）&lt;/Text&gt;&#13;&#10;                    &lt;Text style={{ fontSize: 19, fontWeight: 'bold', color: '#1E4FA8' }}&gt;−645&lt;/Text&gt;&#13;&#10;                &lt;/Box&gt;&#13;&#10;                &lt;Box style={{ flexDirection: 'row', justifyContent: 'space-between', alignItems: 'center', padding: '15px 2px', borderBottom: '1px solid #E5E7EB' }}&gt;&#13;&#10;                    &lt;Text style={{ fontSize: 17, color: '#1A2230' }}&gt;③ 房价异常（0 或 &amp;gt; 1000）&lt;/Text&gt;&#13;&#10;                    &lt;Text style={{ fontSize: 19, fontWeight: 'bold', color: '#1E4FA8' }}&gt;−1,167&lt;/Text&gt;&#13;&#10;                &lt;/Box&gt;&#13;&#10;                &lt;Box style={{ flexDirection: 'row', justifyContent: 'space-between', alignItems: 'center', padding: '15px 2px', borderBottom: '1px solid #D6DCE5' }}&gt;&#13;&#10;                    &lt;Text style={{ fontSize: 17, color: '#1A2230' }}&gt;④ 业务字段完全重复&lt;/Text&gt;&#13;&#10;                    &lt;Text style={{ fontSize: 19, fontWeight: 'bold', color: '#D9534F' }}&gt;−31,813&lt;/Text&gt;&#13;&#10;                &lt;/Box&gt;&#13;&#10;            &lt;/Box&gt;&#13;&#10;            &lt;Box style={{ flexDirection: 'row', justifyContent: 'space-between', alignItems: 'center', padding: '8px 2px 0 2px' }}&gt;&#13;&#10;                &lt;Text style={{ fontSize: 16, color: '#4A5568' }}&gt;合计剔除 / 最终保留&lt;/Text&gt;&#13;&#10;                &lt;Text style={{ fontSize: 17, fontWeight: 'bold', color: '#0E3F8C' }}&gt;−33,805　→　85,585&lt;/Text&gt;&#13;&#10;            &lt;/Box&gt;&#13;&#10;            &lt;Box style={{ background: '#F0F5FC', borderLeft: '3px solid #1E4FA8', padding: '16px 16px', gap: 6 }}&gt;&#13;&#10;                &lt;Text style={{ fontSize: 15, fontWeight: 'bold', color: '#0E3F8C' }}&gt;为什么这一步必须先做&lt;/Text&gt;&#13;&#10;                &lt;Text style={{ fontSize: 14, color: '#1A2230', lineHeight: 1.7 }}&gt;&#13;&#10;                    重复单偏取消（63% 对 27.85%），不先去重，取消率会被抬到 37% 以上；先去重再修异常，口径才守得住。&#13;&#10;                &lt;/Text&gt;&#13;&#10;            &lt;/Box&gt;&#13;&#10;        &lt;/Box&gt;&#13;&#10;    &lt;/Box&gt;&#13;&#10;    &lt;Box style={{ width: 1280, height: 64, flexDirection: 'row', alignItems: 'center', justifyContent: 'space-between', padding: '0 40px', borderTop: '1px solid #E5E7EB' }}&gt;&#13;&#10;        &lt;Text style={{ fontSize: 13, color: '#8B97A8' }}&gt;酒店预订分析 · 一班第十二组　|　数据源：hotel.db&lt;/Text&gt;&#13;&#10;        &lt;Text style={{ fontSize: 15, color: '#1E4FA8', fontWeight: 'bold' }}&gt;04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36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119,390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到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85,585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：四步清洗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791825" y="3429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问题与方法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 r:embed="rId1"/>
          <a:srcRect l="28" t="0" r="28" b="0"/>
          <a:stretch>
            <a:fillRect/>
          </a:stretch>
        </p:blipFill>
        <p:spPr>
          <a:xfrm rot="0" flipH="0" flipV="0">
            <a:off x="381000" y="1123950"/>
            <a:ext cx="6286500" cy="2428875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1000" y="3648075"/>
            <a:ext cx="628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1-1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四步清洗剩余行数：每一步的剔除量与剩余记录数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4010025"/>
            <a:ext cx="6286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剔除的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33,805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条里，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31,813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条是业务字段完全一致的重复单，占全部剔除量的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94%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。这批重复单的取消率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63%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，而总体只有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27.85%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同一批被多记几遍的单子，恰恰是最容易取消的那一批。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81000" y="5181600"/>
            <a:ext cx="6286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所以清洗的第一件事不是修脏数据，而是先解决「同一条预订被记两遍」。剩下三步合计只剔除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1,992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条，量小但必须做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它们会让取消率的分母失真。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991350" y="1123950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四步按此顺序执行，不可交换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991350" y="1485900"/>
            <a:ext cx="4819650" cy="2076450"/>
          </a:xfrm>
          <a:custGeom>
            <a:pathLst>
              <a:path w="506" h="218">
                <a:moveTo>
                  <a:pt x="0" y="0"/>
                </a:moveTo>
                <a:lnTo>
                  <a:pt x="506" y="0"/>
                </a:lnTo>
                <a:lnTo>
                  <a:pt x="506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991350" y="1495425"/>
            <a:ext cx="4819650" cy="523875"/>
          </a:xfrm>
          <a:custGeom>
            <a:pathLst>
              <a:path w="506" h="55">
                <a:moveTo>
                  <a:pt x="0" y="54"/>
                </a:moveTo>
                <a:lnTo>
                  <a:pt x="506" y="54"/>
                </a:lnTo>
                <a:lnTo>
                  <a:pt x="50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010400" y="1647825"/>
            <a:ext cx="1819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无人入住（人数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= 0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315700" y="1638300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−180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991350" y="2009775"/>
            <a:ext cx="4819650" cy="523875"/>
          </a:xfrm>
          <a:custGeom>
            <a:pathLst>
              <a:path w="506" h="55">
                <a:moveTo>
                  <a:pt x="0" y="54"/>
                </a:moveTo>
                <a:lnTo>
                  <a:pt x="506" y="54"/>
                </a:lnTo>
                <a:lnTo>
                  <a:pt x="50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010400" y="2162175"/>
            <a:ext cx="1657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零晚数（晚数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= 0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315700" y="2152650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−645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991350" y="2524125"/>
            <a:ext cx="4819650" cy="523875"/>
          </a:xfrm>
          <a:custGeom>
            <a:pathLst>
              <a:path w="506" h="55">
                <a:moveTo>
                  <a:pt x="0" y="54"/>
                </a:moveTo>
                <a:lnTo>
                  <a:pt x="506" y="54"/>
                </a:lnTo>
                <a:lnTo>
                  <a:pt x="50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010400" y="2676525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房价异常（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或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1000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53775" y="2667000"/>
            <a:ext cx="638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−1,167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991350" y="3038475"/>
            <a:ext cx="4819650" cy="523875"/>
          </a:xfrm>
          <a:custGeom>
            <a:pathLst>
              <a:path w="506" h="55">
                <a:moveTo>
                  <a:pt x="0" y="54"/>
                </a:moveTo>
                <a:lnTo>
                  <a:pt x="506" y="54"/>
                </a:lnTo>
                <a:lnTo>
                  <a:pt x="50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010400" y="3190875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业务字段完全重复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039475" y="3181350"/>
            <a:ext cx="752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−31,813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010400" y="375285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合计剔除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最终保留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086975" y="3743325"/>
            <a:ext cx="1704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−33,805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　→　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85,585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7019925" y="4057650"/>
            <a:ext cx="4819650" cy="1085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991350" y="4057650"/>
            <a:ext cx="4848225" cy="1085850"/>
          </a:xfrm>
          <a:custGeom>
            <a:pathLst>
              <a:path w="509" h="114">
                <a:moveTo>
                  <a:pt x="0" y="0"/>
                </a:moveTo>
                <a:lnTo>
                  <a:pt x="3" y="0"/>
                </a:lnTo>
                <a:lnTo>
                  <a:pt x="3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172325" y="4210050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为什么这一步必须先做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172325" y="4438650"/>
            <a:ext cx="4486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重复单偏取消（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63%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27.85%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），不先去重，取消率会被抬到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37%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以上；先去重再修异常，口径才守得住。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hotel.db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02" name="" descr="&lt;Slide style={{ width: 1280, height: 720, background: '#FFFFFF', padding: 0 }}&gt;&#10;    &lt;Box style={{ width: 1280, height: 88, background: '#0E3F8C', flexDirection: 'row', alignItems: 'center', justifyContent: 'space-between', padding: '0 40px' }}&gt;&#10;        &lt;Text style={{ fontSize: 30, fontWeight: 'bold', color: '#FFFFFF' }}&gt;一个指标，三种口径：37.04% → 27.85%&lt;/Text&gt;&#10;        &lt;Text style={{ fontSize: 14, color: '#A9C0E4', letterSpacing: 2 }}&gt;01 问题与方法&lt;/Text&gt;&#10;    &lt;/Box&gt;&#10;    &lt;Box style={{ width: 1280, height: 568, padding: '26px 40px', gap: 18 }}&gt;&#10;        &lt;Box style={{ flexDirection: 'row', gap: 20, height: 150 }}&gt;&#10;            &lt;Box style={{ flex: 1, background: '#F7F9FC', border: '1px solid #D6DCE5', borderRadius: 6, padding: '16px 22px', justifyContent: 'space-between' }}&gt;&#10;                &lt;Text style={{ fontSize: 14, color: '#4A5568' }}&gt;原始层（含重复）&lt;/Text&gt;&#10;                &lt;Text style={{ fontSize: 52, fontWeight: 'bold', color: '#8B97A8', lineHeight: 1.05 }}&gt;37.04%&lt;/Text&gt;&#10;                &lt;Text style={{ fontSize: 13, color: '#8B97A8' }}&gt;44,224 / 119,390 单&lt;/Text&gt;&#10;            &lt;/Box&gt;&#10;            &lt;Box style={{ flex: 1, background: '#F7F9FC', border: '1px solid #D6DCE5', borderRadius: 6, padding: '16px 22px', justifyContent: 'space-between' }}&gt;&#10;                &lt;Text style={{ fontSize: 14, color: '#4A5568' }}&gt;去重后（未修异常）&lt;/Text&gt;&#10;                &lt;Text style={{ fontSize: 52, fontWeight: 'bold', color: '#3D7BD9', lineHeight: 1.05 }}&gt;27.49%&lt;/Text&gt;&#10;                &lt;Text style={{ fontSize: 13, color: '#8B97A8' }}&gt;24,025 / 87,396 单&lt;/Text&gt;&#10;            &lt;/Box&gt;&#10;            &lt;Box style={{ flex: 1, background: '#E8EFF8', border: '2px solid #1E4FA8', borderRadius: 6, padding: '16px 22px', justifyContent: 'space-between' }}&gt;&#10;                &lt;Text style={{ fontSize: 14, fontWeight: 'bold', color: '#0E3F8C' }}&gt;清洗后（本报告口径）&lt;/Text&gt;&#10;                &lt;Text style={{ fontSize: 52, fontWeight: 'bold', color: '#0E3F8C', lineHeight: 1.05 }}&gt;27.85%&lt;/Text&gt;&#10;                &lt;Text style={{ fontSize: 13, color: '#4A5568' }}&gt;23,839 / 85,585 单&lt;/Text&gt;&#10;            &lt;/Box&gt;&#10;        &lt;/Box&gt;&#10;        &lt;Box style={{ flexDirection: 'row', gap: 26 }}&gt;&#10;            &lt;Box style={{ width: 800, gap: 6 }}&gt;&#10;                &lt;Image src='assets/c_three_calibers.png' style={{ width: 800, height: 237 }} /&gt;&#10;                &lt;Text style={{ fontSize: 13, color: '#8B97A8' }}&gt;图 1-2　同一个 is_canceled 字段，三种样本口径下的取消率&lt;/Text&gt;&#10;            &lt;/Box&gt;&#10;            &lt;Box style={{ flex: 1, gap: 12, paddingTop: 2 }}&gt;&#10;                &lt;Text style={{ fontSize: 18, fontWeight: 'bold', color: '#0E3F8C' }}&gt;为什么只认 27.85%&lt;/Text&gt;&#10;                &lt;Text style={{ fontSize: 14, color: '#1A2230', lineHeight: 1.8 }}&gt;&#10;                    三个数都能算出来，差的是样本。原始层里同一条预订被记了多遍，而重复单中 63% 是取消单，于是取消率被系统性抬高 9.2 个百分点。&#10;                &lt;/Text&gt;&#10;                &lt;Text style={{ fontSize: 14, color: '#1A2230', lineHeight: 1.8 }}&gt;&#10;                    去重后与清洗后只差 0.36 个百分点，说明后三步剔除的行与取消行为基本无关 —— 口径怎么变，结论不变。&#10;                &lt;/Text&gt;&#10;            &lt;/Box&gt;&#10;        &lt;/Box&gt;&#10;        &lt;Box style={{ height: 74, background: '#F0F5FC', borderLeft: '3px solid #1E4FA8', flexDirection: 'row', alignItems: 'center', padding: '0 20px', gap: 18 }}&gt;&#10;            &lt;Text style={{ fontSize: 15, fontWeight: 'bold', color: '#0E3F8C' }}&gt;口径纪律&lt;/Text&gt;&#10;            &lt;Text style={{ fontSize: 14, color: '#1A2230', lineHeight: 1.65, flex: 1 }}&gt;&#10;                全篇只用一个数：85,585 单、27.85%。凡是口径不同的数字，一律在图表副标题标注来源；不标注口径的百分比，不允许进结论。&#10;            &lt;/Text&gt;&#10;        &lt;/Box&gt;&#10;    &lt;/Box&gt;&#10;    &lt;Box style={{ width: 1280, height: 64, flexDirection: 'row', alignItems: 'center', justifyContent: 'space-between', padding: '0 40px', borderTop: '1px solid #E5E7EB' }}&gt;&#10;        &lt;Text style={{ fontSize: 13, color: '#8B97A8' }}&gt;酒店预订分析 · 一班第十二组　|　数据源：hotel.db / bookings 与 dwd_bookings&lt;/Text&gt;&#10;        &lt;Text style={{ fontSize: 15, color: '#1E4FA8', fontWeight: 'bold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4197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一个指标，三种口径：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37.04% → 27.85%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791825" y="3429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问题与方法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81000" y="1085850"/>
            <a:ext cx="3686175" cy="14287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90550" y="123825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原始层（含重复）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90550" y="1495425"/>
            <a:ext cx="3267075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8B97A8"/>
                </a:solidFill>
                <a:latin typeface="Microsoft YaHei"/>
                <a:ea typeface="Microsoft YaHei"/>
              </a:rPr>
              <a:t>37.04%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90550" y="2209800"/>
            <a:ext cx="3267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44,224 / 119,390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257675" y="1085850"/>
            <a:ext cx="3676650" cy="14287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467225" y="123825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去重后（未修异常）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467225" y="1495425"/>
            <a:ext cx="325755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3D7BD9"/>
                </a:solidFill>
                <a:latin typeface="Microsoft YaHei"/>
                <a:ea typeface="Microsoft YaHei"/>
              </a:rPr>
              <a:t>27.49%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467225" y="2209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24,025 / 87,396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8124825" y="1085850"/>
            <a:ext cx="3686175" cy="1428750"/>
          </a:xfrm>
          <a:prstGeom prst="roundRect">
            <a:avLst>
              <a:gd name="adj" fmla="val 4000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34375" y="123825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清洗后（本报告口径）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334375" y="1495425"/>
            <a:ext cx="3267075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E3F8C"/>
                </a:solidFill>
                <a:latin typeface="Microsoft YaHei"/>
                <a:ea typeface="Microsoft YaHei"/>
              </a:rPr>
              <a:t>27.85%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34375" y="2209800"/>
            <a:ext cx="3267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23,839 / 85,585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pic>
        <p:nvPicPr>
          <p:cNvPr id="219" name=""/>
          <p:cNvPicPr>
            <a:picLocks noChangeAspect="1"/>
          </p:cNvPicPr>
          <p:nvPr/>
        </p:nvPicPr>
        <p:blipFill>
          <a:blip r:embed="rId1"/>
          <a:srcRect l="0" t="62" r="0" b="62"/>
          <a:stretch>
            <a:fillRect/>
          </a:stretch>
        </p:blipFill>
        <p:spPr>
          <a:xfrm rot="0" flipH="0" flipV="0">
            <a:off x="381000" y="2686050"/>
            <a:ext cx="7620000" cy="2257425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81000" y="5000625"/>
            <a:ext cx="7620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1-2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同一个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is_canceled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字段，三种样本口径下的取消率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248650" y="2705100"/>
            <a:ext cx="3562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为什么只认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27.85%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248650" y="3028950"/>
            <a:ext cx="356235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三个数都能算出来，差的是样本。原始层里同一条预订被记了多遍，而重复单中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63%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是取消单，于是取消率被系统性抬高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9.2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个百分点。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248650" y="4010025"/>
            <a:ext cx="35623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去重后与清洗后只差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0.36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个百分点，说明后三步剔除的行与取消行为基本无关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口径怎么变，结论不变。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09575" y="5324475"/>
            <a:ext cx="11430000" cy="704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381000" y="5324475"/>
            <a:ext cx="11458575" cy="704850"/>
          </a:xfrm>
          <a:custGeom>
            <a:pathLst>
              <a:path w="1203" h="74">
                <a:moveTo>
                  <a:pt x="0" y="0"/>
                </a:moveTo>
                <a:lnTo>
                  <a:pt x="3" y="0"/>
                </a:lnTo>
                <a:lnTo>
                  <a:pt x="3" y="74"/>
                </a:lnTo>
                <a:lnTo>
                  <a:pt x="0" y="7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0075" y="5591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口径纪律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343025" y="5543550"/>
            <a:ext cx="1027747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全篇只用一个数：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单、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27.85%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。凡是口径不同的数字，一律在图表副标题标注来源；不标注口径的百分比，不允许进结论。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hotel.db / bookings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dwd_bookings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 style={{ width: 1280, height: 720, background: '#FFFFFF', padding: 0, flexDirection: 'row' }}&gt;&#10;    &lt;Box style={{ width: 600, height: 720, background: '#F0F5FC', justifyContent: 'center', alignItems: 'center', position: 'relative' }}&gt;&#10;        &lt;Text style={{ fontSize: 280, fontWeight: 'bold', color: '#C9D8F0', lineHeight: 1 }}&gt;02&lt;/Text&gt;&#10;        &lt;Box style={{ position: 'absolute', left: 0, bottom: 0, width: 600, height: 5, background: '#1E4FA8' }} /&gt;&#10;    &lt;/Box&gt;&#10;    &lt;Box style={{ flex: 1, height: 720, padding: '0 64px', justifyContent: 'center', gap: 24 }}&gt;&#10;        &lt;Text style={{ fontSize: 14, color: '#3D7BD9', letterSpacing: 4 }}&gt;CHAPTER 02&lt;/Text&gt;&#10;        &lt;Text style={{ fontSize: 46, fontWeight: 'bold', color: '#0E3F8C' }}&gt;客人从哪来&lt;/Text&gt;&#10;        &lt;Box style={{ width: 56, height: 4, background: '#1E4FA8' }} /&gt;&#10;        &lt;Box style={{ gap: 18 }}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176 个客源国，前十国占 81%，第 10 国德国累计刚过 80%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葡萄牙 26,025 单、占 30.41%，取消率 37.0%，高于总体 27.85%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城市酒店 61.13% 单量、30.46% 取消率，度假酒店 23.75%&lt;/Text&gt;&#10;            &lt;/Box&gt;&#10;        &lt;/Box&gt;&#10;        &lt;Text style={{ fontSize: 13, color: '#8B97A8', letterSpacing: 1, marginTop: 8 }}&gt;酒店预订分析 · 一班第十二组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525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3D7BD9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324600" y="2009775"/>
            <a:ext cx="5257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客人从哪来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324600" y="2771775"/>
            <a:ext cx="5334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6324600" y="31337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515100" y="303847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176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个客源国，前十国占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81%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，第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国德国累计刚过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324600" y="3657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515100" y="3562350"/>
            <a:ext cx="50673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葡萄牙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26,025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单、占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30.41%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，取消率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37.0%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，高于总体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27.85%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324600" y="4524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515100" y="442912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城市酒店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61.13%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单量、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30.46%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取消率，度假酒店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23.75%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324600" y="5086350"/>
            <a:ext cx="525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一班第十二组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0" y="0"/>
            <a:ext cx="5715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209675" y="18288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C9D8F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0" y="6810375"/>
            <a:ext cx="5715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6" name="" descr="&lt;Slide style={{ width: 1280, height: 720, background: '#FFFFFF', padding: 0 }}&gt;&#10;    &lt;Box style={{ width: 1280, height: 88, background: '#0E3F8C', flexDirection: 'row', alignItems: 'center', justifyContent: 'space-between', padding: '0 40px' }}&gt;&#10;        &lt;Text style={{ fontSize: 30, fontWeight: 'bold', color: '#FFFFFF' }}&gt;前 10 国占 81%：一国波动就能带动全局&lt;/Text&gt;&#10;        &lt;Text style={{ fontSize: 14, color: '#A9C0E4', letterSpacing: 2 }}&gt;02 客人从哪来&lt;/Text&gt;&#10;    &lt;/Box&gt;&#10;    &lt;Box style={{ width: 1280, height: 568, padding: '24px 40px', alignItems: 'center', gap: 14 }}&gt;&#10;        &lt;Image src='assets/c_source_pareto.png' style={{ width: 900, height: 355 }} /&gt;&#10;        &lt;Text style={{ fontSize: 13, color: '#8B97A8', width: 900 }}&gt;图 2-1　客源国帕累托：前 10 国按单量降序，折线为累计占比&lt;/Text&gt;&#10;        &lt;Box style={{ width: 1200, height: 78, background: '#F7F9FC', border: '1px solid #D6DCE5', borderRadius: 6, flexDirection: 'row', alignItems: 'center', padding: '0 22px', gap: 22 }}&gt;&#10;            &lt;Box style={{ gap: 2, width: 146 }}&gt;&#10;                &lt;Text style={{ fontSize: 27, fontWeight: 'bold', color: '#0E3F8C', lineHeight: 1.1 }}&gt;81%&lt;/Text&gt;&#10;                &lt;Text style={{ fontSize: 12, color: '#4A5568' }}&gt;前十国单量占比&lt;/Text&gt;&#10;            &lt;/Box&gt;&#10;            &lt;Box style={{ width: 1, height: 42, background: '#D6DCE5' }} /&gt;&#10;            &lt;Box style={{ gap: 2, width: 130 }}&gt;&#10;                &lt;Text style={{ fontSize: 27, fontWeight: 'bold', color: '#0E3F8C', lineHeight: 1.1 }}&gt;176&lt;/Text&gt;&#10;                &lt;Text style={{ fontSize: 12, color: '#4A5568' }}&gt;有效客源国数&lt;/Text&gt;&#10;            &lt;/Box&gt;&#10;            &lt;Box style={{ width: 1, height: 42, background: '#D6DCE5' }} /&gt;&#10;            &lt;Box style={{ gap: 2, width: 158 }}&gt;&#10;                &lt;Text style={{ fontSize: 27, fontWeight: 'bold', color: '#D9534F', lineHeight: 1.1 }}&gt;30.41%&lt;/Text&gt;&#10;                &lt;Text style={{ fontSize: 12, color: '#4A5568' }}&gt;葡萄牙单量占比&lt;/Text&gt;&#10;            &lt;/Box&gt;&#10;            &lt;Box style={{ flex: 1 }}&gt;&#10;                &lt;Text style={{ fontSize: 13, color: '#1A2230', lineHeight: 1.65 }}&gt;&#10;                    结构高度集中：葡萄牙一国三成、取消率 37.0%，比总体高 9.2 个百分点。尾部 168 国合计只占 19%，单看某个小国的取消率没有决策价值 —— 后续归因一律按能解释 80% 单量的口径分组。&#10;                &lt;/Text&gt;&#10;            &lt;/Box&gt;&#10;        &lt;/Box&gt;&#10;    &lt;/Box&gt;&#10;    &lt;Box style={{ width: 1280, height: 64, flexDirection: 'row', alignItems: 'center', justifyContent: 'space-between', padding: '0 40px', borderTop: '1px solid #E5E7EB' }}&gt;&#10;        &lt;Text style={{ fontSize: 13, color: '#8B97A8' }}&gt;酒店预订分析 · 一班第十二组　|　数据源：dwd_bookings（85,585 单）&lt;/Text&gt;&#10;        &lt;Text style={{ fontSize: 15, color: '#1E4FA8', fontWeight: 'bold' }}&gt;07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229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前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国占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81%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：一国波动就能带动全局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791825" y="3429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客人从哪来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 r:embed="rId1"/>
          <a:srcRect l="13" t="0" r="13" b="0"/>
          <a:stretch>
            <a:fillRect/>
          </a:stretch>
        </p:blipFill>
        <p:spPr>
          <a:xfrm rot="0" flipH="0" flipV="0">
            <a:off x="1809750" y="1066800"/>
            <a:ext cx="8572500" cy="3381375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809750" y="4581525"/>
            <a:ext cx="857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2-1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客源国帕累托：前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国按单量降序，折线为累计占比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81000" y="4867275"/>
            <a:ext cx="11430000" cy="74295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90550" y="4991100"/>
            <a:ext cx="1390650" cy="3429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81%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90550" y="5353050"/>
            <a:ext cx="1390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前十国单量占比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2190750" y="5038725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409825" y="4991100"/>
            <a:ext cx="1238250" cy="3429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176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2409825" y="535305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有效客源国数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3857625" y="5038725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076700" y="4991100"/>
            <a:ext cx="1504950" cy="3429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025" b="1">
                <a:solidFill>
                  <a:srgbClr val="D9534F"/>
                </a:solidFill>
                <a:latin typeface="Microsoft YaHei"/>
                <a:ea typeface="Microsoft YaHei"/>
              </a:rPr>
              <a:t>30.41%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076700" y="535305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葡萄牙单量占比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91200" y="4991100"/>
            <a:ext cx="58102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结构高度集中：葡萄牙一国三成、取消率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37.0%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，比总体高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9.2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个百分点。尾部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168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国合计只占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19%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，单看某个小国的取消率没有决策价值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后续归因一律按能解释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单量的口径分组。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dwd_bookings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单）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66" name="" descr="&lt;Slide style={{ width: 1280, height: 720, background: '#FFFFFF', padding: 0, flexDirection: 'row' }}&gt;&#10;    &lt;Box style={{ width: 600, height: 720, background: '#F0F5FC', justifyContent: 'center', alignItems: 'center', position: 'relative' }}&gt;&#10;        &lt;Text style={{ fontSize: 280, fontWeight: 'bold', color: '#C9D8F0', lineHeight: 1 }}&gt;03&lt;/Text&gt;&#10;        &lt;Box style={{ position: 'absolute', left: 0, bottom: 0, width: 600, height: 5, background: '#1E4FA8' }} /&gt;&#10;    &lt;/Box&gt;&#10;    &lt;Box style={{ flex: 1, height: 720, padding: '0 64px', justifyContent: 'center', gap: 24 }}&gt;&#10;        &lt;Text style={{ fontSize: 14, color: '#3D7BD9', letterSpacing: 4 }}&gt;CHAPTER 03&lt;/Text&gt;&#10;        &lt;Text style={{ fontSize: 46, fontWeight: 'bold', color: '#0E3F8C' }}&gt;什么时候来&lt;/Text&gt;&#10;        &lt;Box style={{ width: 56, height: 4, background: '#1E4FA8' }} /&gt;&#10;        &lt;Box style={{ gap: 18 }}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季节：8 月指数 1.56，1 月 0.64，峰谷差 2.4 倍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周内：周五到达取消率 31.0%，周二 24.7%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提前期：7 天内 8.43%，90 天以上 37.02%，四档严格单调&lt;/Text&gt;&#10;            &lt;/Box&gt;&#10;        &lt;/Box&gt;&#10;        &lt;Text style={{ fontSize: 13, color: '#8B97A8', letterSpacing: 1, marginTop: 8 }}&gt;酒店预订分析 · 一班第十二组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324600" y="1790700"/>
            <a:ext cx="525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3D7BD9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324600" y="2181225"/>
            <a:ext cx="5257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什么时候来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324600" y="2943225"/>
            <a:ext cx="5334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6324600" y="33051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515100" y="320992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季节：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月指数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1.56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0.64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，峰谷差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324600" y="3829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515100" y="3733800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周内：周五到达取消率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31.0%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，周二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24.7%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324600" y="4352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515100" y="425767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提前期：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天内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8.43%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天以上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37.02%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，四档严格单调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324600" y="4914900"/>
            <a:ext cx="525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一班第十二组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0" y="0"/>
            <a:ext cx="5715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209675" y="18288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C9D8F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0" y="6810375"/>
            <a:ext cx="5715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81" name="" descr="&lt;Slide style={{ width: 1280, height: 720, background: '#FFFFFF', padding: 0 }}&gt;&#13;&#10;    &lt;Box style={{ width: 1280, height: 88, background: '#0E3F8C', flexDirection: 'row', alignItems: 'center', justifyContent: 'space-between', padding: '0 40px' }}&gt;&#13;&#10;        &lt;Text style={{ fontSize: 30, fontWeight: 'bold', color: '#FFFFFF' }}&gt;提前期是唯一严格单调的变量&lt;/Text&gt;&#13;&#10;        &lt;Text style={{ fontSize: 14, color: '#A9C0E4', letterSpacing: 2 }}&gt;03 什么时候来&lt;/Text&gt;&#13;&#10;    &lt;/Box&gt;&#13;&#10;    &lt;Box style={{ width: 1280, height: 568, padding: '28px 40px', flexDirection: 'row', gap: 32 }}&gt;&#13;&#10;        &lt;Box style={{ width: 800, gap: 10 }}&gt;&#13;&#10;            &lt;Image src='assets/c_leadtime.png' style={{ width: 800, height: 213 }} /&gt;&#13;&#10;            &lt;Text style={{ fontSize: 13, color: '#8B97A8' }}&gt;图 3-1　各提前期档位的记录数与取消率（右侧为 95% Wilson 区间）&lt;/Text&gt;&#13;&#10;            &lt;Text style={{ fontSize: 16, color: '#1A2230', lineHeight: 1.8 }}&gt;&#13;&#10;                四档严格单调、中间没有回落：7 天内 8.43% → 8–30 天 25.63% → 31–90 天 32.23% → 90 天以上 37.02%，最高与最低相差约 4.4 倍。六档细分同样单调，181–365 天 39.9%、365 天以上 41.9%。&#13;&#10;            &lt;/Text&gt;&#13;&#10;            &lt;Text style={{ fontSize: 16, color: '#4A5568', lineHeight: 1.8 }}&gt;&#13;&#10;                这条关系是整个数据集里最干净的一条，也是后面做情景测算时唯一能放心用的变量 —— 它不依赖任何分组假设，只看下单距入住的天数。&#13;&#10;            &lt;/Text&gt;&#13;&#10;            &lt;Box style={{ background: '#F0F5FC', borderLeft: '3px solid #1E4FA8', padding: '14px 16px', marginTop: 6 }}&gt;&#13;&#10;                &lt;Text style={{ fontSize: 15, fontWeight: 'bold', color: '#0E3F8C', lineHeight: 1.7 }}&gt;&#13;&#10;                    26% 的订单在入住前 90 天以上下单，这批 29,753 单的取消率是 37.02%，比 7 天内下单的高 4.4 倍。第 4 章的归因，第一刀就按提前期切。&#13;&#10;                &lt;/Text&gt;&#13;&#10;            &lt;/Box&gt;&#13;&#10;        &lt;/Box&gt;&#13;&#10;        &lt;Box style={{ flex: 1, gap: 16, paddingTop: 2 }}&gt;&#13;&#10;            &lt;Text style={{ fontSize: 18, fontWeight: 'bold', color: '#0E3F8C' }}&gt;另外两个时间尺度&lt;/Text&gt;&#13;&#10;            &lt;Box style={{ borderTop: '1px solid #D6DCE5', paddingTop: 14, gap: 6 }}&gt;&#13;&#10;                &lt;Text style={{ fontSize: 15, fontWeight: 'bold', color: '#1A2230' }}&gt;年 · 季节指数&lt;/Text&gt;&#13;&#10;                &lt;Text style={{ fontSize: 26, fontWeight: 'bold', color: '#0E3F8C', lineHeight: 1.2 }}&gt;1.56　/　0.64&lt;/Text&gt;&#13;&#10;                &lt;Text style={{ fontSize: 13, color: '#4A5568', lineHeight: 1.6 }}&gt;8 月单量是年均的 1.56 倍，1 月只有 0.64 倍，峰谷差 2.4 倍。&lt;/Text&gt;&#13;&#10;            &lt;/Box&gt;&#13;&#10;            &lt;Box style={{ borderTop: '1px solid #D6DCE5', paddingTop: 14, gap: 6 }}&gt;&#13;&#10;                &lt;Text style={{ fontSize: 15, fontWeight: 'bold', color: '#1A2230' }}&gt;周 · 到达日星期&lt;/Text&gt;&#13;&#10;                &lt;Text style={{ fontSize: 26, fontWeight: 'bold', color: '#0E3F8C', lineHeight: 1.2 }}&gt;31.0%　/　24.7%&lt;/Text&gt;&#13;&#10;                &lt;Text style={{ fontSize: 13, color: '#4A5568', lineHeight: 1.6 }}&gt;周五到达取消率最高、周二最低，一周之内差 6.3 个百分点。&lt;/Text&gt;&#13;&#10;            &lt;/Box&gt;&#13;&#10;            &lt;Box style={{ background: '#F0F5FC', borderLeft: '3px solid #1E4FA8', padding: '14px 15px', gap: 6 }}&gt;&#13;&#10;                &lt;Text style={{ fontSize: 14, fontWeight: 'bold', color: '#0E3F8C' }}&gt;为什么只看提前期&lt;/Text&gt;&#13;&#10;                &lt;Text style={{ fontSize: 13, color: '#1A2230', lineHeight: 1.7 }}&gt;&#13;&#10;                    季节和星期只能告诉我们「什么时候忙」，提前期在下单那一刻就已知，是唯一能在预订环节直接干预的变量。&#13;&#10;                &lt;/Text&gt;&#13;&#10;            &lt;/Box&gt;&#13;&#10;        &lt;/Box&gt;&#13;&#10;    &lt;/Box&gt;&#13;&#10;    &lt;Box style={{ width: 1280, height: 64, flexDirection: 'row', alignItems: 'center', justifyContent: 'space-between', padding: '0 40px', borderTop: '1px solid #E5E7EB' }}&gt;&#13;&#10;        &lt;Text style={{ fontSize: 13, color: '#8B97A8' }}&gt;酒店预订分析 · 一班第十二组　|　数据源：dwd_bookings（85,585 单）&lt;/Text&gt;&#13;&#10;        &lt;Text style={{ fontSize: 15, color: '#1E4FA8', fontWeight: 'bold' }}&gt;09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提前期是唯一严格单调的变量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791825" y="3429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什么时候来</a:t>
            </a:r>
            <a:endParaRPr/>
          </a:p>
        </p:txBody>
      </p:sp>
      <p:pic>
        <p:nvPicPr>
          <p:cNvPr id="286" name=""/>
          <p:cNvPicPr>
            <a:picLocks noChangeAspect="1"/>
          </p:cNvPicPr>
          <p:nvPr/>
        </p:nvPicPr>
        <p:blipFill>
          <a:blip r:embed="rId1"/>
          <a:srcRect l="0" t="45" r="0" b="45"/>
          <a:stretch>
            <a:fillRect/>
          </a:stretch>
        </p:blipFill>
        <p:spPr>
          <a:xfrm rot="0" flipH="0" flipV="0">
            <a:off x="381000" y="1104900"/>
            <a:ext cx="7620000" cy="2028825"/>
          </a:xfrm>
          <a:prstGeom prst="rect">
            <a:avLst/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3228975"/>
            <a:ext cx="7620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3-1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各提前期档位的记录数与取消率（右侧为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95% Wilson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区间）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3476625"/>
            <a:ext cx="762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四档严格单调、中间没有回落：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天内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8.43% → 8–30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25.63% → 31–90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32.23% → 90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天以上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37.02%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，最高与最低相差约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4.4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倍。六档细分同样单调，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181–365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39.9%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365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天以上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41.9%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81000" y="4238625"/>
            <a:ext cx="762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这条关系是整个数据集里最干净的一条，也是后面做情景测算时唯一能放心用的变量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它不依赖任何分组假设，只看下单距入住的天数。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409575" y="5057775"/>
            <a:ext cx="7620000" cy="8572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381000" y="5057775"/>
            <a:ext cx="7648575" cy="857250"/>
          </a:xfrm>
          <a:custGeom>
            <a:pathLst>
              <a:path w="803" h="90">
                <a:moveTo>
                  <a:pt x="0" y="0"/>
                </a:moveTo>
                <a:lnTo>
                  <a:pt x="3" y="0"/>
                </a:lnTo>
                <a:lnTo>
                  <a:pt x="3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61975" y="5191125"/>
            <a:ext cx="72866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26%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的订单在入住前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天以上下单，这批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29,753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单的取消率是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37.02%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，比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天内下单的高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4.4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倍。第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章的归因，第一刀就按提前期切。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05800" y="1123950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另外两个时间尺度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305800" y="1485900"/>
            <a:ext cx="3505200" cy="1038225"/>
          </a:xfrm>
          <a:custGeom>
            <a:pathLst>
              <a:path w="368" h="109">
                <a:moveTo>
                  <a:pt x="0" y="0"/>
                </a:moveTo>
                <a:lnTo>
                  <a:pt x="368" y="0"/>
                </a:lnTo>
                <a:lnTo>
                  <a:pt x="368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05800" y="1628775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年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季节指数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305800" y="1857375"/>
            <a:ext cx="3505200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1.56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　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/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　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0.64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305800" y="2276475"/>
            <a:ext cx="35052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月单量是年均的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1.56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倍，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月只有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0.64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倍，峰谷差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倍。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305800" y="2667000"/>
            <a:ext cx="3505200" cy="1038225"/>
          </a:xfrm>
          <a:custGeom>
            <a:pathLst>
              <a:path w="368" h="109">
                <a:moveTo>
                  <a:pt x="0" y="0"/>
                </a:moveTo>
                <a:lnTo>
                  <a:pt x="368" y="0"/>
                </a:lnTo>
                <a:lnTo>
                  <a:pt x="368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305800" y="2809875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周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到达日星期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305800" y="3038475"/>
            <a:ext cx="3505200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31.0%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　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/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　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24.7%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05800" y="3457575"/>
            <a:ext cx="35052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周五到达取消率最高、周二最低，一周之内差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6.3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个百分点。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334375" y="3848100"/>
            <a:ext cx="3505200" cy="10001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8305800" y="3848100"/>
            <a:ext cx="3533775" cy="1000125"/>
          </a:xfrm>
          <a:custGeom>
            <a:pathLst>
              <a:path w="371" h="105">
                <a:moveTo>
                  <a:pt x="0" y="0"/>
                </a:moveTo>
                <a:lnTo>
                  <a:pt x="3" y="0"/>
                </a:lnTo>
                <a:lnTo>
                  <a:pt x="3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477250" y="39814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为什么只看提前期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477250" y="4200525"/>
            <a:ext cx="31908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季节和星期只能告诉我们「什么时候忙」，提前期在下单那一刻就已知，是唯一能在预订环节直接干预的变量。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dwd_bookings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单）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9" name="" descr="&lt;Slide style={{ width: 1280, height: 720, background: '#FFFFFF', padding: 0, flexDirection: 'row' }}&gt;&#10;    &lt;Box style={{ width: 600, height: 720, background: '#F0F5FC', justifyContent: 'center', alignItems: 'center', position: 'relative' }}&gt;&#10;        &lt;Text style={{ fontSize: 280, fontWeight: 'bold', color: '#C9D8F0', lineHeight: 1 }}&gt;04&lt;/Text&gt;&#10;        &lt;Box style={{ position: 'absolute', left: 0, bottom: 0, width: 600, height: 5, background: '#1E4FA8' }} /&gt;&#10;    &lt;/Box&gt;&#10;    &lt;Box style={{ flex: 1, height: 720, padding: '0 64px', justifyContent: 'center', gap: 24 }}&gt;&#10;        &lt;Text style={{ fontSize: 14, color: '#3D7BD9', letterSpacing: 4 }}&gt;CHAPTER 04&lt;/Text&gt;&#10;        &lt;Text style={{ fontSize: 46, fontWeight: 'bold', color: '#0E3F8C' }}&gt;取消归因与结论&lt;/Text&gt;&#10;        &lt;Box style={{ width: 56, height: 4, background: '#1E4FA8' }} /&gt;&#10;        &lt;Box style={{ gap: 18 }}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十二个因素按「影响面 × 可干预性」铺成象限，右上角是空的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两年同月相比 25.9% → 32.2%，+6.36 个百分点，79% 来自组内&lt;/Text&gt;&#10;            &lt;/Box&gt;&#10;            &lt;Box style={{ flexDirection: 'row', gap: 14, alignItems: 'flex-start' }}&gt;&#10;                &lt;Box style={{ width: 6, height: 6, borderRadius: 3, background: '#1E4FA8', marginTop: 10 }} /&gt;&#10;                &lt;Text style={{ fontSize: 19, color: '#1A2230', lineHeight: 1.6, flex: 1 }}&gt;三条可执行结论、一个干预窗口、三个必须承认的局限&lt;/Text&gt;&#10;            &lt;/Box&gt;&#10;        &lt;/Box&gt;&#10;        &lt;Text style={{ fontSize: 13, color: '#8B97A8', letterSpacing: 1, marginTop: 8 }}&gt;酒店预订分析 · 一班第十二组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525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3D7BD9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24600" y="2009775"/>
            <a:ext cx="5257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取消归因与结论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324600" y="2771775"/>
            <a:ext cx="5334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324600" y="31337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515100" y="303847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十二个因素按「影响面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可干预性」铺成象限，右上角是空的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324600" y="3657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515100" y="3562350"/>
            <a:ext cx="50673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两年同月相比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25.9% → 32.2%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+6.36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个百分点，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79%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来自组内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324600" y="4524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515100" y="4429125"/>
            <a:ext cx="5067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三条可执行结论、一个干预窗口、三个必须承认的局限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324600" y="5086350"/>
            <a:ext cx="525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一班第十二组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0" y="0"/>
            <a:ext cx="5715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09675" y="18288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C9D8F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0" y="6810375"/>
            <a:ext cx="5715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4" name="" descr="&lt;Slide style={{ width: 1280, height: 720, background: '#FFFFFF', padding: 0 }}&gt;&#13;&#10;    &lt;Box style={{ width: 1280, height: 88, background: '#0E3F8C', flexDirection: 'row', alignItems: 'center', justifyContent: 'space-between', padding: '0 40px' }}&gt;&#13;&#10;        &lt;Text style={{ fontSize: 30, fontWeight: 'bold', color: '#FFFFFF' }}&gt;十二个因素：右上象限是空的&lt;/Text&gt;&#13;&#10;        &lt;Text style={{ fontSize: 14, color: '#A9C0E4', letterSpacing: 2 }}&gt;04 取消归因与结论&lt;/Text&gt;&#13;&#10;    &lt;/Box&gt;&#13;&#10;    &lt;Box style={{ width: 1280, height: 568, padding: '28px 40px', flexDirection: 'row', gap: 30 }}&gt;&#13;&#10;        &lt;Box style={{ width: 700, gap: 10 }}&gt;&#13;&#10;            &lt;Image src='assets/c_factor_quadrant.png' style={{ width: 700, height: 362 }} /&gt;&#13;&#10;            &lt;Text style={{ fontSize: 13, color: '#8B97A8' }}&gt;图 4-1　横轴为超额取消单数（可算），纵轴为可干预程度（业务打分）&lt;/Text&gt;&#13;&#10;            &lt;Box style={{ background: '#F0F5FC', borderLeft: '3px solid #1E4FA8', padding: '14px 16px', marginTop: 4 }}&gt;&#13;&#10;                &lt;Text style={{ fontSize: 15, fontWeight: 'bold', color: '#0E3F8C', lineHeight: 1.7 }}&gt;&#13;&#10;                    结论只能是「杠杆有限」：能改的事都改不出大数，数大的事都改不了。任何「改三个因素就能把取消率降一半」的说法，在这张图上不成立。&#13;&#10;                &lt;/Text&gt;&#13;&#10;            &lt;/Box&gt;&#13;&#10;        &lt;/Box&gt;&#13;&#10;        &lt;Box style={{ flex: 1, gap: 14, paddingTop: 2 }}&gt;&#13;&#10;            &lt;Text style={{ fontSize: 18, fontWeight: 'bold', color: '#0E3F8C' }}&gt;怎么读这张图&lt;/Text&gt;&#13;&#10;            &lt;Text style={{ fontSize: 14, color: '#1A2230', lineHeight: 1.8 }}&gt;&#13;&#10;                横轴是「超额取消单数」：把该因素的取消率换算成多出来的取消单量，越大说明越值得管。纵轴是业务打分，0 为纯结构性、1 为可干预。&#13;&#10;            &lt;/Text&gt;&#13;&#10;            &lt;Box style={{ borderTop: '1px solid #D6DCE5', paddingTop: 12, gap: 4 }}&gt;&#13;&#10;                &lt;Text style={{ fontSize: 14, fontWeight: 'bold', color: '#D9534F' }}&gt;影响最大 · 改不了&lt;/Text&gt;&#13;&#10;                &lt;Text style={{ fontSize: 13, color: '#4A5568', lineHeight: 1.65 }}&gt;市场细分 4,000 单、提前期 3,700 单、客源国 3,100 单 —— 都是客人自带的属性。&lt;/Text&gt;&#13;&#10;            &lt;/Box&gt;&#13;&#10;            &lt;Box style={{ borderTop: '1px solid #D6DCE5', paddingTop: 12, gap: 4 }}&gt;&#13;&#10;                &lt;Text style={{ fontSize: 14, fontWeight: 'bold', color: '#0E3F8C' }}&gt;能干预 · 影响中等&lt;/Text&gt;&#13;&#10;                &lt;Text style={{ fontSize: 13, color: '#4A5568', lineHeight: 1.65 }}&gt;特殊要求数 2,100 单、停车位需求 1,900 单、历史取消次数 1,050 单。&lt;/Text&gt;&#13;&#10;            &lt;/Box&gt;&#13;&#10;            &lt;Box style={{ borderTop: '1px solid #D6DCE5', paddingTop: 12, gap: 4 }}&gt;&#13;&#10;                &lt;Text style={{ fontSize: 14, fontWeight: 'bold', color: '#0E3F8C' }}&gt;但效应极强&lt;/Text&gt;&#13;&#10;                &lt;Text style={{ fontSize: 13, color: '#4A5568', lineHeight: 1.65 }}&gt;有停车位需求的 7,206 单取消率 0.0%；无特殊要求的 42,849 单 33.7%，4 条要求降到 10.9%。&lt;/Text&gt;&#13;&#10;            &lt;/Box&gt;&#13;&#10;            &lt;Box style={{ borderTop: '1px solid #D6DCE5', paddingTop: 12, gap: 4 }}&gt;&#13;&#10;                &lt;Text style={{ fontSize: 14, fontWeight: 'bold', color: '#0E3F8C' }}&gt;三项的共同点&lt;/Text&gt;&#13;&#10;                &lt;Text style={{ fontSize: 13, color: '#4A5568', lineHeight: 1.65 }}&gt;都是「客人主动表达过偏好」的行为。表达过偏好的客人更不容易取消 —— 这句话可以拿去指导前台话术，但效果要验证。&lt;/Text&gt;&#13;&#10;            &lt;/Box&gt;&#13;&#10;        &lt;/Box&gt;&#13;&#10;    &lt;/Box&gt;&#13;&#10;    &lt;Box style={{ width: 1280, height: 64, flexDirection: 'row', alignItems: 'center', justifyContent: 'space-between', padding: '0 40px', borderTop: '1px solid #E5E7EB' }}&gt;&#13;&#10;        &lt;Text style={{ fontSize: 13, color: '#8B97A8' }}&gt;酒店预订分析 · 一班第十二组　|　数据源：dwd_bookings（85,585 单）&lt;/Text&gt;&#13;&#10;        &lt;Text style={{ fontSize: 15, color: '#1E4FA8', fontWeight: 'bold' }}&gt;11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十二个因素：右上象限是空的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487025" y="342900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取消归因与结论</a:t>
            </a:r>
            <a:endParaRPr/>
          </a:p>
        </p:txBody>
      </p:sp>
      <p:pic>
        <p:nvPicPr>
          <p:cNvPr id="39" name=""/>
          <p:cNvPicPr>
            <a:picLocks noChangeAspect="1"/>
          </p:cNvPicPr>
          <p:nvPr/>
        </p:nvPicPr>
        <p:blipFill>
          <a:blip r:embed="rId1"/>
          <a:srcRect l="0" t="26" r="0" b="26"/>
          <a:stretch>
            <a:fillRect/>
          </a:stretch>
        </p:blipFill>
        <p:spPr>
          <a:xfrm rot="0" flipH="0" flipV="0">
            <a:off x="381000" y="1104900"/>
            <a:ext cx="6667500" cy="3448050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464820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4-1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横轴为超额取消单数（可算），纵轴为可干预程度（业务打分）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09575" y="4933950"/>
            <a:ext cx="6667500" cy="8572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381000" y="4933950"/>
            <a:ext cx="6696075" cy="857250"/>
          </a:xfrm>
          <a:custGeom>
            <a:pathLst>
              <a:path w="703" h="90">
                <a:moveTo>
                  <a:pt x="0" y="0"/>
                </a:moveTo>
                <a:lnTo>
                  <a:pt x="3" y="0"/>
                </a:lnTo>
                <a:lnTo>
                  <a:pt x="3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61975" y="5067300"/>
            <a:ext cx="63341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结论只能是「杠杆有限」：能改的事都改不出大数，数大的事都改不了。任何「改三个因素就能把取消率降一半」的说法，在这张图上不成立。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334250" y="1123950"/>
            <a:ext cx="447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怎么读这张图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334250" y="1466850"/>
            <a:ext cx="4476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横轴是「超额取消单数」：把该因素的取消率换算成多出来的取消单量，越大说明越值得管。纵轴是业务打分，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为纯结构性、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为可干预。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334250" y="2181225"/>
            <a:ext cx="4476750" cy="828675"/>
          </a:xfrm>
          <a:custGeom>
            <a:pathLst>
              <a:path w="470" h="87">
                <a:moveTo>
                  <a:pt x="0" y="0"/>
                </a:moveTo>
                <a:lnTo>
                  <a:pt x="470" y="0"/>
                </a:lnTo>
                <a:lnTo>
                  <a:pt x="47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334250" y="23050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D9534F"/>
                </a:solidFill>
                <a:latin typeface="Microsoft YaHei"/>
                <a:ea typeface="Microsoft YaHei"/>
              </a:rPr>
              <a:t>影响最大</a:t>
            </a:r>
            <a:r>
              <a:rPr lang="en-US" sz="10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D9534F"/>
                </a:solidFill>
                <a:latin typeface="Microsoft YaHei"/>
                <a:ea typeface="Microsoft YaHei"/>
              </a:rPr>
              <a:t>改不了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334250" y="2505075"/>
            <a:ext cx="44767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市场细分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4,000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单、提前期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3,700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单、客源国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3,100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都是客人自带的属性。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334250" y="3133725"/>
            <a:ext cx="4476750" cy="581025"/>
          </a:xfrm>
          <a:custGeom>
            <a:pathLst>
              <a:path w="470" h="61">
                <a:moveTo>
                  <a:pt x="0" y="0"/>
                </a:moveTo>
                <a:lnTo>
                  <a:pt x="470" y="0"/>
                </a:lnTo>
                <a:lnTo>
                  <a:pt x="47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334250" y="32575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能干预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影响中等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334250" y="345757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特殊要求数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2,100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单、停车位需求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1,900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单、历史取消次数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1,050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7334250" y="3838575"/>
            <a:ext cx="4476750" cy="828675"/>
          </a:xfrm>
          <a:custGeom>
            <a:pathLst>
              <a:path w="470" h="87">
                <a:moveTo>
                  <a:pt x="0" y="0"/>
                </a:moveTo>
                <a:lnTo>
                  <a:pt x="470" y="0"/>
                </a:lnTo>
                <a:lnTo>
                  <a:pt x="47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334250" y="396240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但效应极强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334250" y="4162425"/>
            <a:ext cx="44767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有停车位需求的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7,206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单取消率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0.0%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；无特殊要求的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42,849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33.7%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条要求降到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10.9%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334250" y="4791075"/>
            <a:ext cx="4476750" cy="828675"/>
          </a:xfrm>
          <a:custGeom>
            <a:pathLst>
              <a:path w="470" h="87">
                <a:moveTo>
                  <a:pt x="0" y="0"/>
                </a:moveTo>
                <a:lnTo>
                  <a:pt x="470" y="0"/>
                </a:lnTo>
                <a:lnTo>
                  <a:pt x="47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334250" y="491490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三项的共同点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334250" y="5114925"/>
            <a:ext cx="44767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都是「客人主动表达过偏好」的行为。表达过偏好的客人更不容易取消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这句话可以拿去指导前台话术，但效果要验证。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dwd_bookings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单）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1" name="" descr="&lt;Slide style={{ width: 1280, height: 720, background: '#FFFFFF', padding: 0 }}&gt;&#10;    &lt;Box style={{ width: 1280, height: 88, background: '#0E3F8C', flexDirection: 'row', alignItems: 'center', justifyContent: 'space-between', padding: '0 40px' }}&gt;&#10;        &lt;Text style={{ fontSize: 30, fontWeight: 'bold', color: '#FFFFFF' }}&gt;不是客人换了，是同一批客人变犹豫了&lt;/Text&gt;&#10;        &lt;Text style={{ fontSize: 14, color: '#A9C0E4', letterSpacing: 2 }}&gt;04 取消归因与结论&lt;/Text&gt;&#10;    &lt;/Box&gt;&#10;    &lt;Box style={{ width: 1280, height: 568, padding: '26px 40px', alignItems: 'center', gap: 14 }}&gt;&#10;        &lt;Image src='assets/c_decomp_waterfall.png' style={{ width: 780, height: 349 }} /&gt;&#10;        &lt;Text style={{ fontSize: 13, color: '#8B97A8', width: 780 }}&gt;图 4-2　2016 与 2017 年 1—8 月同月对比，按市场细分拆解取消率变化（Kitagawa 分解）&lt;/Text&gt;&#10;        &lt;Box style={{ width: 1200, height: 96, background: '#F7F9FC', border: '1px solid #D6DCE5', borderRadius: 6, flexDirection: 'row', alignItems: 'center', padding: '0 22px', gap: 22 }}&gt;&#10;            &lt;Box style={{ gap: 2, width: 152 }}&gt;&#10;                &lt;Text style={{ fontSize: 26, fontWeight: 'bold', color: '#0E3F8C', lineHeight: 1.1 }}&gt;+6.36pp&lt;/Text&gt;&#10;                &lt;Text style={{ fontSize: 12, color: '#4A5568' }}&gt;两年同月总变化&lt;/Text&gt;&#10;            &lt;/Box&gt;&#10;            &lt;Box style={{ width: 1, height: 54, background: '#D6DCE5' }} /&gt;&#10;            &lt;Box style={{ gap: 2, width: 132 }}&gt;&#10;                &lt;Text style={{ fontSize: 26, fontWeight: 'bold', color: '#3D7BD9', lineHeight: 1.1 }}&gt;+1.3&lt;/Text&gt;&#10;                &lt;Text style={{ fontSize: 12, color: '#4A5568' }}&gt;渠道结构效应&lt;/Text&gt;&#10;            &lt;/Box&gt;&#10;            &lt;Box style={{ width: 1, height: 54, background: '#D6DCE5' }} /&gt;&#10;            &lt;Box style={{ gap: 2, width: 140 }}&gt;&#10;                &lt;Text style={{ fontSize: 26, fontWeight: 'bold', color: '#D9534F', lineHeight: 1.1 }}&gt;+5.0&lt;/Text&gt;&#10;                &lt;Text style={{ fontSize: 12, color: '#4A5568' }}&gt;组内行为效应&lt;/Text&gt;&#10;            &lt;/Box&gt;&#10;            &lt;Box style={{ flex: 1 }}&gt;&#10;                &lt;Text style={{ fontSize: 13, color: '#1A2230', lineHeight: 1.65 }}&gt;&#10;                    79% 的涨幅来自「同一类渠道的客人自己更容易取消」，结构只贡献 +1.3。换成按客源国分解，结构效应是 −1.14 个百分点，同样很小甚至为负 —— 两种分法都指向同一个判断。&#10;                &lt;/Text&gt;&#10;            &lt;/Box&gt;&#10;        &lt;/Box&gt;&#10;    &lt;/Box&gt;&#10;    &lt;Box style={{ width: 1280, height: 64, flexDirection: 'row', alignItems: 'center', justifyContent: 'space-between', padding: '0 40px', borderTop: '1px solid #E5E7EB' }}&gt;&#10;        &lt;Text style={{ fontSize: 13, color: '#8B97A8' }}&gt;酒店预订分析 · 一班第十二组　|　数据源：dwd_bookings（85,585 单）&lt;/Text&gt;&#10;        &lt;Text style={{ fontSize: 15, color: '#1E4FA8', fontWeight: 'bold'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857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不是客人换了，是同一批客人变犹豫了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487025" y="342900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取消归因与结论</a:t>
            </a:r>
            <a:endParaRPr/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"/>
          <a:srcRect l="53" t="0" r="53" b="0"/>
          <a:stretch>
            <a:fillRect/>
          </a:stretch>
        </p:blipFill>
        <p:spPr>
          <a:xfrm rot="0" flipH="0" flipV="0">
            <a:off x="2381250" y="1085850"/>
            <a:ext cx="7429500" cy="3324225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381250" y="4543425"/>
            <a:ext cx="742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4-2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2016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2017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1—8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月同月对比，按市场细分拆解取消率变化（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Kitagawa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分解）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81000" y="4829175"/>
            <a:ext cx="11430000" cy="914400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90550" y="5038725"/>
            <a:ext cx="1447800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+6.36pp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90550" y="5391150"/>
            <a:ext cx="1447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两年同月总变化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2247900" y="5029200"/>
            <a:ext cx="9525" cy="5143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466975" y="5038725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+1.3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466975" y="53911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渠道结构效应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933825" y="5029200"/>
            <a:ext cx="9525" cy="5143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152900" y="5038725"/>
            <a:ext cx="1333500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D9534F"/>
                </a:solidFill>
                <a:latin typeface="Microsoft YaHei"/>
                <a:ea typeface="Microsoft YaHei"/>
              </a:rPr>
              <a:t>+5.0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152900" y="5391150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组内行为效应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695950" y="5038725"/>
            <a:ext cx="59055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79%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的涨幅来自「同一类渠道的客人自己更容易取消」，结构只贡献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+1.3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。换成按客源国分解，结构效应是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−1.14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个百分点，同样很小甚至为负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两种分法都指向同一个判断。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dwd_bookings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单）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1" name="" descr="&lt;Slide style={{ width: 1280, height: 720, background: '#FFFFFF', padding: 0 }}&gt;&#13;&#10;    &lt;Box style={{ width: 1280, height: 88, background: '#0E3F8C', flexDirection: 'row', alignItems: 'center', justifyContent: 'space-between', padding: '0 40px' }}&gt;&#13;&#10;        &lt;Text style={{ fontSize: 30, fontWeight: 'bold', color: '#FFFFFF' }}&gt;三条结论、一个窗口、三个局限&lt;/Text&gt;&#13;&#10;        &lt;Text style={{ fontSize: 14, color: '#A9C0E4', letterSpacing: 2 }}&gt;04 取消归因与结论&lt;/Text&gt;&#13;&#10;    &lt;/Box&gt;&#13;&#10;    &lt;Box style={{ width: 1280, height: 568, padding: '28px 40px', flexDirection: 'row', gap: 26 }}&gt;&#13;&#10;        &lt;Box style={{ width: 322, height: 512, background: '#0E3F8C', padding: '26px 24px', justifyContent: 'space-between' }}&gt;&#13;&#10;            &lt;Box style={{ gap: 14 }}&gt;&#13;&#10;                &lt;Text style={{ fontSize: 12, color: '#8FA9D2', letterSpacing: 3 }}&gt;CONCLUSION&lt;/Text&gt;&#13;&#10;                &lt;Text style={{ fontSize: 27, fontWeight: 'bold', color: '#FFFFFF', lineHeight: 1.35 }}&gt;结论与局限&lt;/Text&gt;&#13;&#10;                &lt;Box style={{ width: 36, height: 3, background: '#3D7BD9' }} /&gt;&#13;&#10;                &lt;Text style={{ fontSize: 13, color: '#C9D8F0', lineHeight: 1.8 }}&gt;&#13;&#10;                    四条判断、一个窗口、三个局限&lt;br /&gt;每一条都能回到 hotel.db 复算&#13;&#10;                &lt;/Text&gt;&#13;&#10;            &lt;/Box&gt;&#13;&#10;            &lt;Box style={{ gap: 6 }}&gt;&#13;&#10;                &lt;Image src='assets/c_cancel_timing.png' style={{ width: 274, height: 105 }} /&gt;&#13;&#10;                &lt;Text style={{ fontSize: 11, color: '#A9C0E4', lineHeight: 1.6 }}&gt;图 4-3　取消发生时机：按到达前天数分档，仅统计 23,839 条取消单&lt;/Text&gt;&#13;&#10;            &lt;/Box&gt;&#13;&#10;        &lt;/Box&gt;&#13;&#10;        &lt;Box style={{ flex: 1, gap: 12, justifyContent: 'space-between' }}&gt;&#13;&#10;            &lt;Box style={{ flexDirection: 'row', gap: 14, alignItems: 'flex-start' }}&gt;&#13;&#10;                &lt;Text style={{ fontSize: 22, fontWeight: 'bold', color: '#C9D8F0', width: 26 }}&gt;01&lt;/Text&gt;&#13;&#10;                &lt;Box style={{ flex: 1, gap: 3 }}&gt;&#13;&#10;                    &lt;Text style={{ fontSize: 17, fontWeight: 'bold', color: '#1A2230' }}&gt;口径先行，再谈任何百分比&lt;/Text&gt;&#13;&#10;                    &lt;Text style={{ fontSize: 13, color: '#4A5568', lineHeight: 1.65 }}&gt;同一指标三种口径相差 9.2 个百分点。全篇锁定 85,585 单、27.85%，所有数字可回 hotel.db 复现。&lt;/Text&gt;&#13;&#10;                &lt;/Box&gt;&#13;&#10;            &lt;/Box&gt;&#13;&#10;            &lt;Box style={{ borderTop: '1px solid #E5E7EB', paddingTop: 10, flexDirection: 'row', gap: 14, alignItems: 'flex-start' }}&gt;&#13;&#10;                &lt;Text style={{ fontSize: 22, fontWeight: 'bold', color: '#C9D8F0', width: 26 }}&gt;02&lt;/Text&gt;&#13;&#10;                &lt;Box style={{ flex: 1, gap: 3 }}&gt;&#13;&#10;                    &lt;Text style={{ fontSize: 17, fontWeight: 'bold', color: '#1A2230' }}&gt;主战场在长提前期&lt;/Text&gt;&#13;&#10;                    &lt;Text style={{ fontSize: 13, color: '#4A5568', lineHeight: 1.65 }}&gt;入住前 90 天以上下单的 29,753 单，取消率 37.02%：占全部订单的 35%，却贡献 11,014 条取消，接近全部取消单的一半。&lt;/Text&gt;&#13;&#10;                &lt;/Box&gt;&#13;&#10;            &lt;/Box&gt;&#13;&#10;            &lt;Box style={{ borderTop: '1px solid #E5E7EB', paddingTop: 10, flexDirection: 'row', gap: 14, alignItems: 'flex-start' }}&gt;&#13;&#10;                &lt;Text style={{ fontSize: 22, fontWeight: 'bold', color: '#C9D8F0', width: 26 }}&gt;03&lt;/Text&gt;&#13;&#10;                &lt;Box style={{ flex: 1, gap: 3 }}&gt;&#13;&#10;                    &lt;Text style={{ fontSize: 17, fontWeight: 'bold', color: '#1A2230' }}&gt;把「无特殊要求」当风险标签&lt;/Text&gt;&#13;&#10;                    &lt;Text style={{ fontSize: 13, color: '#4A5568', lineHeight: 1.65 }}&gt;42,849 单没有任何特殊要求，取消率 33.7%；有 4 条要求降到 10.9%，有停车位需求的 7,206 单是 0.0%。&lt;/Text&gt;&#13;&#10;                &lt;/Box&gt;&#13;&#10;            &lt;/Box&gt;&#13;&#10;            &lt;Box style={{ borderTop: '1px solid #D6DCE5', paddingTop: 12, background: '#F0F5FC', padding: '12px 14px', gap: 4 }}&gt;&#13;&#10;                &lt;Text style={{ fontSize: 14, fontWeight: 'bold', color: '#0E3F8C' }}&gt;干预窗口&lt;/Text&gt;&#13;&#10;                &lt;Text style={{ fontSize: 13, color: '#1A2230', lineHeight: 1.65 }}&gt;46% 的取消发生在入住前 30 天内，19% 在 7 天内；提醒改期与增值服务应压在这个窗口，而不是下单当时。&lt;/Text&gt;&#13;&#10;            &lt;/Box&gt;&#13;&#10;            &lt;Box style={{ gap: 4 }}&gt;&#13;&#10;                &lt;Text style={{ fontSize: 13, fontWeight: 'bold', color: '#D9534F' }}&gt;三个必须承认的局限&lt;/Text&gt;&#13;&#10;                &lt;Text style={{ fontSize: 12, color: '#4A5568', lineHeight: 1.6 }}&gt;① 单集团两家酒店、2015—2017 样本，不外推行业；② 不可退款押金 1,037 单取消率 94.7%，是记账口径而非行为；③ 全部结论是相关关系，干预效果需 A/B 验证。&lt;/Text&gt;&#13;&#10;            &lt;/Box&gt;&#13;&#10;            &lt;Box style={{ background: '#0E3F8C', padding: '12px 16px', flexDirection: 'row', alignItems: 'center', gap: 14 }}&gt;&#13;&#10;                &lt;Text style={{ fontSize: 12, color: '#8FA9D2', letterSpacing: 2 }}&gt;一句话&lt;/Text&gt;&#13;&#10;                &lt;Text style={{ fontSize: 14, color: '#FFFFFF', lineHeight: 1.7, flex: 1 }}&gt;&#13;&#10;                    取消率不是被某一件大事推高的，是一批长提前期、没表达过偏好的订单，在临近入住时才改变主意。&#13;&#10;                &lt;/Text&gt;&#13;&#10;            &lt;/Box&gt;&#13;&#10;        &lt;/Box&gt;&#13;&#10;    &lt;/Box&gt;&#13;&#10;    &lt;Box style={{ width: 1280, height: 64, flexDirection: 'row', alignItems: 'center', justifyContent: 'space-between', padding: '0 40px', borderTop: '1px solid #E5E7EB' }}&gt;&#13;&#10;        &lt;Text style={{ fontSize: 13, color: '#8B97A8' }}&gt;酒店预订分析 · 一班第十二组　|　数据源：dwd_bookings（85,585 单）&lt;/Text&gt;&#13;&#10;        &lt;Text style={{ fontSize: 15, color: '#1E4FA8', fontWeight: 'bold' }}&gt;13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三条结论、一个窗口、三个局限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487025" y="342900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0E4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 spc="150">
                <a:solidFill>
                  <a:srgbClr val="A9C0E4"/>
                </a:solidFill>
                <a:latin typeface="Microsoft YaHei"/>
                <a:ea typeface="Microsoft YaHei"/>
              </a:rPr>
              <a:t>取消归因与结论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81000" y="1104900"/>
            <a:ext cx="3067050" cy="4876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135255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8FA9D2"/>
                </a:solidFill>
                <a:latin typeface="Microsoft YaHei"/>
                <a:ea typeface="Microsoft YaHei"/>
              </a:rPr>
              <a:t>CONCLUSION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1628775"/>
            <a:ext cx="2609850" cy="4191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结论与局限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2181225"/>
            <a:ext cx="3429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26098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四条判断、一个窗口、三个局限</a:t>
            </a:r>
            <a:endParaRPr/>
          </a:p>
          <a:p>
            <a:pPr>
              <a:lnSpc>
                <a:spcPct val="180000"/>
              </a:lnSpc>
            </a:pP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每一条都能回到</a:t>
            </a: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 hotel.db </a:t>
            </a: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复算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 r:embed="rId1"/>
          <a:srcRect l="0" t="288" r="0" b="288"/>
          <a:stretch>
            <a:fillRect/>
          </a:stretch>
        </p:blipFill>
        <p:spPr>
          <a:xfrm rot="0" flipH="0" flipV="0">
            <a:off x="609600" y="4267200"/>
            <a:ext cx="2609850" cy="1000125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5324475"/>
            <a:ext cx="26098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25">
                <a:solidFill>
                  <a:srgbClr val="A9C0E4"/>
                </a:solidFill>
                <a:latin typeface="Microsoft YaHei"/>
                <a:ea typeface="Microsoft YaHei"/>
              </a:rPr>
              <a:t>图</a:t>
            </a:r>
            <a:r>
              <a:rPr lang="en-US" sz="825">
                <a:solidFill>
                  <a:srgbClr val="A9C0E4"/>
                </a:solidFill>
                <a:latin typeface="Microsoft YaHei"/>
                <a:ea typeface="Microsoft YaHei"/>
              </a:rPr>
              <a:t xml:space="preserve"> 4-3</a:t>
            </a:r>
            <a:r>
              <a:rPr lang="zh-CN" sz="825">
                <a:solidFill>
                  <a:srgbClr val="A9C0E4"/>
                </a:solidFill>
                <a:latin typeface="Microsoft YaHei"/>
                <a:ea typeface="Microsoft YaHei"/>
              </a:rPr>
              <a:t>　取消发生时机：按到达前天数分档，仅统计</a:t>
            </a:r>
            <a:r>
              <a:rPr lang="en-US" sz="825">
                <a:solidFill>
                  <a:srgbClr val="A9C0E4"/>
                </a:solidFill>
                <a:latin typeface="Microsoft YaHei"/>
                <a:ea typeface="Microsoft YaHei"/>
              </a:rPr>
              <a:t xml:space="preserve"> 23,839 </a:t>
            </a:r>
            <a:r>
              <a:rPr lang="zh-CN" sz="825">
                <a:solidFill>
                  <a:srgbClr val="A9C0E4"/>
                </a:solidFill>
                <a:latin typeface="Microsoft YaHei"/>
                <a:ea typeface="Microsoft YaHei"/>
              </a:rPr>
              <a:t>条取消单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695700" y="11049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9D8F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076700" y="1104900"/>
            <a:ext cx="773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口径先行，再谈任何百分比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076700" y="1333500"/>
            <a:ext cx="7734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同一指标三种口径相差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9.2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个百分点。全篇锁定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85,585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27.85%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，所有数字可回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hotel.db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复现。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695700" y="1866900"/>
            <a:ext cx="8115300" cy="590550"/>
          </a:xfrm>
          <a:custGeom>
            <a:pathLst>
              <a:path w="852" h="62">
                <a:moveTo>
                  <a:pt x="0" y="0"/>
                </a:moveTo>
                <a:lnTo>
                  <a:pt x="852" y="0"/>
                </a:lnTo>
                <a:lnTo>
                  <a:pt x="8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695700" y="19716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9D8F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076700" y="1971675"/>
            <a:ext cx="773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主战场在长提前期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076700" y="2200275"/>
            <a:ext cx="7734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入住前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天以上下单的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29,753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单，取消率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37.02%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：占全部订单的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35%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，却贡献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11,014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条取消，接近全部取消单的一半。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695700" y="2724150"/>
            <a:ext cx="8115300" cy="590550"/>
          </a:xfrm>
          <a:custGeom>
            <a:pathLst>
              <a:path w="852" h="62">
                <a:moveTo>
                  <a:pt x="0" y="0"/>
                </a:moveTo>
                <a:lnTo>
                  <a:pt x="852" y="0"/>
                </a:lnTo>
                <a:lnTo>
                  <a:pt x="8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695700" y="28289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9D8F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076700" y="2828925"/>
            <a:ext cx="773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把「无特殊要求」当风险标签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076700" y="3057525"/>
            <a:ext cx="7734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42,849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单没有任何特殊要求，取消率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33.7%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；有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条要求降到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10.9%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，有停车位需求的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7,206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单是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0.0%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695700" y="3600450"/>
            <a:ext cx="8115300" cy="6858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3695700" y="3590925"/>
            <a:ext cx="8115300" cy="695325"/>
          </a:xfrm>
          <a:custGeom>
            <a:pathLst>
              <a:path w="852" h="73">
                <a:moveTo>
                  <a:pt x="0" y="0"/>
                </a:moveTo>
                <a:lnTo>
                  <a:pt x="852" y="0"/>
                </a:lnTo>
                <a:lnTo>
                  <a:pt x="8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29050" y="3714750"/>
            <a:ext cx="784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干预窗口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29050" y="3914775"/>
            <a:ext cx="78486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46%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的取消发生在入住前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天内，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19%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天内；提醒改期与增值服务应压在这个窗口，而不是下单当时。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695700" y="4552950"/>
            <a:ext cx="811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9534F"/>
                </a:solidFill>
                <a:latin typeface="Microsoft YaHei"/>
                <a:ea typeface="Microsoft YaHei"/>
              </a:rPr>
              <a:t>三个必须承认的局限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95700" y="4743450"/>
            <a:ext cx="8115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单集团两家酒店、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2015—2017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样本，不外推行业；②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不可退款押金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1,037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单取消率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94.7%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，是记账口径而非行为；③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全部结论是相关关系，干预效果需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A/B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验证。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695700" y="5476875"/>
            <a:ext cx="8115300" cy="5048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48100" y="5657850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8FA9D2"/>
                </a:solidFill>
                <a:latin typeface="Microsoft YaHei"/>
                <a:ea typeface="Microsoft YaHei"/>
              </a:rPr>
              <a:t>一句话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381500" y="5591175"/>
            <a:ext cx="72771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取消率不是被某一件大事推高的，是一批长提前期、没表达过偏好的订单，在临近入住时才改变主意。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酒店预订分析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一班第十二组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数据源：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dwd_bookings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单）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 width: 1280, height: 720, background: '#FFFFFF', padding: 0, justifyContent: 'center', alignItems: 'center', position: 'relative' }}&gt;&#10;    &lt;Box style={{ position: 'absolute', top: 0, left: 0, width: 1280, height: 8, background: '#0E3F8C' }} /&gt;&#10;    &lt;Box style={{ position: 'absolute', bottom: 0, left: 0, width: 1280, height: 8, background: '#F0F5FC' }} /&gt;&#10;    &lt;Box style={{ alignItems: 'center', gap: 26 }}&gt;&#10;        &lt;Text style={{ fontSize: 13, color: '#3D7BD9', letterSpacing: 6 }}&gt;THANKS FOR YOUR TIME&lt;/Text&gt;&#10;        &lt;Text style={{ fontSize: 52, fontWeight: 'bold', color: '#0E3F8C', letterSpacing: 2 }}&gt;谢谢&lt;/Text&gt;&#10;        &lt;Box style={{ width: 96, height: 3, background: '#D6DCE5' }} /&gt;&#10;        &lt;Text style={{ fontSize: 20, color: '#1A2230', letterSpacing: 1 }}&gt;酒店预订分析　·　一班第十二组&lt;/Text&gt;&#10;        &lt;Text style={{ fontSize: 13, color: '#8B97A8', letterSpacing: 1, lineHeight: 1.9, textAlign: 'center' }}&gt;&#10;            数据来源：hotel.db（bookings 原始层 / dwd_bookings 清洗层，2015.07—2017.08，85,585 单）&lt;br /&gt;&#10;            分析工具：Python + pandas + Matplotlib + Jupyter Notebook　·　作图规范：hotel_insight.viz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772025" y="2143125"/>
            <a:ext cx="2657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0">
                <a:solidFill>
                  <a:srgbClr val="3D7BD9"/>
                </a:solidFill>
                <a:latin typeface="Microsoft YaHei"/>
                <a:ea typeface="Microsoft YaHei"/>
              </a:rPr>
              <a:t>THANKS FOR YOUR TIME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533775" y="2543175"/>
            <a:ext cx="5143500" cy="600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900" b="1" spc="150">
                <a:solidFill>
                  <a:srgbClr val="0E3F8C"/>
                </a:solidFill>
                <a:latin typeface="Microsoft YaHei"/>
                <a:ea typeface="Microsoft YaHei"/>
              </a:rPr>
              <a:t>谢谢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648325" y="3390900"/>
            <a:ext cx="914400" cy="285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676775" y="366712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1A2230"/>
                </a:solidFill>
                <a:latin typeface="Microsoft YaHei"/>
                <a:ea typeface="Microsoft YaHei"/>
              </a:rPr>
              <a:t>酒店预订分析　·　一班第十二组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971800" y="4143375"/>
            <a:ext cx="6257925" cy="571500"/>
          </a:xfrm>
          <a:prstGeom prst="rect"/>
        </p:spPr>
        <p:txBody>
          <a:bodyPr wrap="none" lIns="0" tIns="0" rIns="0" bIns="0"/>
          <a:p>
            <a:pPr algn="ctr">
              <a:lnSpc>
                <a:spcPct val="19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数据来源：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hotel.db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bookings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原始层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dwd_bookings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清洗层，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2015.07—2017.08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85,585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单）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分析工具：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Python + pandas + Matplotlib + Jupyter Notebook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　·　作图规范：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hotel_insight.viz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2026-10-21T09:39:39Z</dcterms:created>
  <dcterms:modified xsi:type="dcterms:W3CDTF">2026-10-21T09:39:39Z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{"AIGC":{"Label":"1","ContentProducer":"00119111010856365494821B355","ProduceID":"01a15c0e9c8971afba9782a4e3f12855","ReservedCode1":"","ContentPropagator":"00119111010856365494821B355","PropagateID":"01a15c0e9c8971afba9782a4e3f12855","ReservedCode2":""}}</vt:lpwstr>
  </property>
</Properties>
</file>